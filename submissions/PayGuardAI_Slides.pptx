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PayGuard AI: the problem, the solution, and the three headline numbers. Built as a working proof of concept, not just a concept.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problems: the scale ($16.6B), the tool gap (static rules), and the explainability gap. Each maps to one of the three agents in PayGuard 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architecture: claim goes in, deterministic rules pre-screen, then 3 LLM agents each specialize. Live CMS API grounds every output. Four outputs at the bottom.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agent does one job. The key: context passing. Agent 2 knows what Agent 1 found; Agent 3 synthesizes both. Chain-of-thought, not three separate classifiers.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deterministic layer. Plain English CMS policy in, executable JSON rule out via GPT-4o-mini. That rule pre-screens every future claim instantly before any LLM agent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each case: what was submitted, which rule fired, what the agents determined. Behavioral correctness on ground-truth scenarios, not a statistical performance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opportunities and four threats. Core principle across all threats: human-in-the-loop, always. PayGuard AI is decision support, not autonomous adjudication.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options, each tied directly to what PayGuard AI already demonstrates. Recommendation: start with A and C together on de-identified data, expand to B once the rule library proves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Governance controls built in from day one, not added as an afterthought. GOVERNANCE.md, evaluation harness, and human-in-the-loop framing are all in the submitted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Big problem, working system, governance-first posture, clear path for Cotiviti.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0" cy="5143500"/>
          </a:xfrm>
          <a:prstGeom prst="rect">
            <a:avLst/>
          </a:prstGeom>
          <a:solidFill>
            <a:srgbClr val="4A008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2004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14173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PayGuard AI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411480" y="2395728"/>
            <a:ext cx="4983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Agentic Generative AI for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Fraud, Waste, and Abuse Detection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Healthcare Payment Integrity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411480" y="41605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Neha Save  |  MS Analytics, Northeastern University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11480" y="44622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Engineer, DeepThink Health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989320" y="640080"/>
            <a:ext cx="2834640" cy="1170432"/>
          </a:xfrm>
          <a:prstGeom prst="roundRect">
            <a:avLst>
              <a:gd name="adj" fmla="val 9375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6080760" y="73152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A8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$16.6B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6080760" y="126187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HHS confirmed healthcare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and overpayments, 2025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989320" y="2057400"/>
            <a:ext cx="2834640" cy="1170432"/>
          </a:xfrm>
          <a:prstGeom prst="roundRect">
            <a:avLst>
              <a:gd name="adj" fmla="val 9375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6080760" y="214884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A8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Agents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6080760" y="267919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review, FWA detection,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decision synthesis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989320" y="3474720"/>
            <a:ext cx="2834640" cy="1170432"/>
          </a:xfrm>
          <a:prstGeom prst="roundRect">
            <a:avLst>
              <a:gd name="adj" fmla="val 9375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6080760" y="356616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A8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6080760" y="409651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test accuracy on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ground-truth cases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0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FWA costs billions annually and traditional tools are losing the fight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84048" y="1325880"/>
            <a:ext cx="2578608" cy="3401568"/>
          </a:xfrm>
          <a:prstGeom prst="roundRect">
            <a:avLst>
              <a:gd name="adj" fmla="val 49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0" y="1508760"/>
            <a:ext cx="594360" cy="59436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4752" y="1581912"/>
            <a:ext cx="448056" cy="4480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3776" y="2231136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0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of the Problem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93776" y="2761488"/>
            <a:ext cx="2359152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$16.6B in confirmed healthcare</a:t>
            </a:r>
            <a:endParaRPr lang="en-US" sz="12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and improper payments</a:t>
            </a:r>
            <a:endParaRPr lang="en-US" sz="12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by HHS OIG in 2025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218688" y="1325880"/>
            <a:ext cx="2578608" cy="3401568"/>
          </a:xfrm>
          <a:prstGeom prst="roundRect">
            <a:avLst>
              <a:gd name="adj" fmla="val 49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06240" y="1508760"/>
            <a:ext cx="594360" cy="59436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392" y="1581912"/>
            <a:ext cx="448056" cy="4480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28416" y="2231136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0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Tools Fail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328416" y="2761488"/>
            <a:ext cx="2359152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rule engines catch only</a:t>
            </a:r>
            <a:endParaRPr lang="en-US" sz="12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billing patterns. Novel</a:t>
            </a:r>
            <a:endParaRPr lang="en-US" sz="12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schemes evolve faster than rules.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053328" y="1325880"/>
            <a:ext cx="2578608" cy="3401568"/>
          </a:xfrm>
          <a:prstGeom prst="roundRect">
            <a:avLst>
              <a:gd name="adj" fmla="val 49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040880" y="1508760"/>
            <a:ext cx="594360" cy="594360"/>
          </a:xfrm>
          <a:prstGeom prst="ellipse">
            <a:avLst/>
          </a:prstGeom>
          <a:solidFill>
            <a:srgbClr val="4A008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032" y="1581912"/>
            <a:ext cx="448056" cy="4480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63056" y="2231136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0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Explainable Rationale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163056" y="2761488"/>
            <a:ext cx="2359152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risk scores cannot</a:t>
            </a:r>
            <a:endParaRPr lang="en-US" sz="12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provider disputes or</a:t>
            </a:r>
            <a:endParaRPr lang="en-US" sz="12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audits requiring</a:t>
            </a:r>
            <a:endParaRPr lang="en-US" sz="12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policy citations.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0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PayGuard AI Architecture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deterministic plus agentic LLM pipeline grounded in live CMS policy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170432"/>
            <a:ext cx="1965960" cy="914400"/>
          </a:xfrm>
          <a:prstGeom prst="roundRect">
            <a:avLst>
              <a:gd name="adj" fmla="val 10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20700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Input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536192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ICD-10, CPT codes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provider, patient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40280" y="1627632"/>
            <a:ext cx="429768" cy="0"/>
          </a:xfrm>
          <a:prstGeom prst="line">
            <a:avLst/>
          </a:prstGeom>
          <a:noFill/>
          <a:ln w="25400">
            <a:solidFill>
              <a:srgbClr val="E91E8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70048" y="1051560"/>
            <a:ext cx="2194560" cy="1152144"/>
          </a:xfrm>
          <a:prstGeom prst="roundRect">
            <a:avLst>
              <a:gd name="adj" fmla="val 7937"/>
            </a:avLst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2670048" y="109728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0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Rules Engine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670048" y="1426464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0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CMS rules, deterministic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0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and fully auditable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0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NCD/LCD to JSON converter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64608" y="1627632"/>
            <a:ext cx="347472" cy="0"/>
          </a:xfrm>
          <a:prstGeom prst="line">
            <a:avLst/>
          </a:prstGeom>
          <a:noFill/>
          <a:ln w="25400">
            <a:solidFill>
              <a:srgbClr val="E91E8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12080" y="1051560"/>
            <a:ext cx="1207008" cy="1152144"/>
          </a:xfrm>
          <a:prstGeom prst="roundRect">
            <a:avLst>
              <a:gd name="adj" fmla="val 7937"/>
            </a:avLst>
          </a:prstGeom>
          <a:solidFill>
            <a:srgbClr val="6B21C8"/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0" y="1097280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12080" y="1371600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Review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212080" y="1600200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necessity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ICD/CPT analysis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19088" y="1627632"/>
            <a:ext cx="118872" cy="0"/>
          </a:xfrm>
          <a:prstGeom prst="line">
            <a:avLst/>
          </a:prstGeom>
          <a:noFill/>
          <a:ln w="19050">
            <a:solidFill>
              <a:srgbClr val="F9A8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37960" y="1051560"/>
            <a:ext cx="1207008" cy="1152144"/>
          </a:xfrm>
          <a:prstGeom prst="roundRect">
            <a:avLst>
              <a:gd name="adj" fmla="val 7937"/>
            </a:avLst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1097280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37960" y="1371600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FWA Detection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37960" y="1600200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Upcoding, phantom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billing, unbundling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LCD/NCD check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744968" y="1627632"/>
            <a:ext cx="118872" cy="0"/>
          </a:xfrm>
          <a:prstGeom prst="line">
            <a:avLst/>
          </a:prstGeom>
          <a:noFill/>
          <a:ln w="19050">
            <a:solidFill>
              <a:srgbClr val="F9A8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63840" y="1051560"/>
            <a:ext cx="1207008" cy="1152144"/>
          </a:xfrm>
          <a:prstGeom prst="roundRect">
            <a:avLst>
              <a:gd name="adj" fmla="val 7937"/>
            </a:avLst>
          </a:prstGeom>
          <a:solidFill>
            <a:srgbClr val="5B21B6"/>
          </a:solidFill>
          <a:ln/>
        </p:spPr>
      </p:sp>
      <p:sp>
        <p:nvSpPr>
          <p:cNvPr id="23" name="Text 21"/>
          <p:cNvSpPr/>
          <p:nvPr/>
        </p:nvSpPr>
        <p:spPr>
          <a:xfrm>
            <a:off x="7863840" y="1097280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863840" y="1371600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Adjudication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863840" y="1600200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JSON output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scoring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SIU recommendation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212080" y="2395728"/>
            <a:ext cx="3749040" cy="658368"/>
          </a:xfrm>
          <a:prstGeom prst="roundRect">
            <a:avLst>
              <a:gd name="adj" fmla="val 13889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5212080" y="248716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CMS Coverage API  |  api.coverage.cms.gov  |  LRU cache + retry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3200400"/>
            <a:ext cx="2057400" cy="1719072"/>
          </a:xfrm>
          <a:prstGeom prst="roundRect">
            <a:avLst>
              <a:gd name="adj" fmla="val 5319"/>
            </a:avLst>
          </a:prstGeom>
          <a:solidFill>
            <a:srgbClr val="0D9488">
              <a:alpha val="8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347472" y="3291840"/>
            <a:ext cx="1911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47472" y="3712464"/>
            <a:ext cx="1911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2F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FLAG / DENY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2F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confidence score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487168" y="3200400"/>
            <a:ext cx="2057400" cy="1719072"/>
          </a:xfrm>
          <a:prstGeom prst="roundRect">
            <a:avLst>
              <a:gd name="adj" fmla="val 5319"/>
            </a:avLst>
          </a:prstGeom>
          <a:solidFill>
            <a:srgbClr val="0D9488">
              <a:alpha val="85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2560320" y="3291840"/>
            <a:ext cx="1911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Risk Registry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2560320" y="3712464"/>
            <a:ext cx="1911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2F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Cross-claim patterns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2F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SIU referral triggers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00016" y="3200400"/>
            <a:ext cx="2057400" cy="1719072"/>
          </a:xfrm>
          <a:prstGeom prst="roundRect">
            <a:avLst>
              <a:gd name="adj" fmla="val 5319"/>
            </a:avLst>
          </a:prstGeom>
          <a:solidFill>
            <a:srgbClr val="0D9488">
              <a:alpha val="85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4773168" y="3291840"/>
            <a:ext cx="1911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Audit Report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773168" y="3712464"/>
            <a:ext cx="1911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2F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reasoning chain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2F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CMS citations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912864" y="3200400"/>
            <a:ext cx="2057400" cy="1719072"/>
          </a:xfrm>
          <a:prstGeom prst="roundRect">
            <a:avLst>
              <a:gd name="adj" fmla="val 5319"/>
            </a:avLst>
          </a:prstGeom>
          <a:solidFill>
            <a:srgbClr val="0D9488">
              <a:alpha val="85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986016" y="3291840"/>
            <a:ext cx="1911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Harness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986016" y="3712464"/>
            <a:ext cx="1911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2F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vs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2F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ground-truth labels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0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Three-Agent Pipeline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specializes. Each passes structured context forward.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47472" y="1298448"/>
            <a:ext cx="530352" cy="530352"/>
          </a:xfrm>
          <a:prstGeom prst="ellipse">
            <a:avLst/>
          </a:prstGeom>
          <a:solidFill>
            <a:srgbClr val="6B21C8"/>
          </a:solidFill>
          <a:ln/>
        </p:spPr>
      </p:sp>
      <p:sp>
        <p:nvSpPr>
          <p:cNvPr id="5" name="Text 3"/>
          <p:cNvSpPr/>
          <p:nvPr/>
        </p:nvSpPr>
        <p:spPr>
          <a:xfrm>
            <a:off x="347472" y="12984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87552" y="12801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0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Review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87552" y="164592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ICD-10 and CPT codes. Queries live CMS Coverage API for NCD/LCD guidelines. Assesses medical necessity using chain-of-thought reasoning.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760720" y="1298448"/>
            <a:ext cx="3017520" cy="841248"/>
          </a:xfrm>
          <a:prstGeom prst="roundRect">
            <a:avLst>
              <a:gd name="adj" fmla="val 10870"/>
            </a:avLst>
          </a:prstGeom>
          <a:solidFill>
            <a:srgbClr val="F7F5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870448" y="1325880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21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870448" y="1572768"/>
            <a:ext cx="2798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0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severity, justified procedures, CMS policy references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" y="1847088"/>
            <a:ext cx="0" cy="621792"/>
          </a:xfrm>
          <a:prstGeom prst="line">
            <a:avLst/>
          </a:prstGeom>
          <a:noFill/>
          <a:ln w="25400">
            <a:solidFill>
              <a:srgbClr val="6B21C8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347472" y="2560320"/>
            <a:ext cx="530352" cy="5303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" y="25603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87552" y="254203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0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FWA Detection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87552" y="2907792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Agent 1 context. Compares billed codes against clinically justified procedures. Detects upcoding, unbundling, and phantom billing against CMS LCD/NCD policies.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760720" y="2560320"/>
            <a:ext cx="3017520" cy="841248"/>
          </a:xfrm>
          <a:prstGeom prst="roundRect">
            <a:avLst>
              <a:gd name="adj" fmla="val 10870"/>
            </a:avLst>
          </a:prstGeom>
          <a:solidFill>
            <a:srgbClr val="F7F5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870448" y="2587752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870448" y="2834640"/>
            <a:ext cx="2798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0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CPT codes, anomaly types, financial exposure estimate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" y="3108960"/>
            <a:ext cx="0" cy="621792"/>
          </a:xfrm>
          <a:prstGeom prst="line">
            <a:avLst/>
          </a:prstGeom>
          <a:noFill/>
          <a:ln w="25400">
            <a:solidFill>
              <a:srgbClr val="7C3AED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347472" y="3822192"/>
            <a:ext cx="530352" cy="530352"/>
          </a:xfrm>
          <a:prstGeom prst="ellipse">
            <a:avLst/>
          </a:prstGeom>
          <a:solidFill>
            <a:srgbClr val="5B21B6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38221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87552" y="380390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0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Synthesis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87552" y="4169664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both prior outputs. Synthesizes findings into a Pydantic-validated JSON determination. Calibrates confidence score. Writes plain-English SIU recommendation.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760720" y="3822192"/>
            <a:ext cx="3017520" cy="841248"/>
          </a:xfrm>
          <a:prstGeom prst="roundRect">
            <a:avLst>
              <a:gd name="adj" fmla="val 10870"/>
            </a:avLst>
          </a:prstGeom>
          <a:solidFill>
            <a:srgbClr val="F7F5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870448" y="3849624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870448" y="4096512"/>
            <a:ext cx="2798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0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FLAG / DENY with confidence %, estimated recoverable amount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0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Policy-to-Rule Engine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plain-English CMS policy into executable deterministic checks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47472" y="1207008"/>
            <a:ext cx="1993392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1207008"/>
            <a:ext cx="1993392" cy="420624"/>
          </a:xfrm>
          <a:prstGeom prst="roundRect">
            <a:avLst>
              <a:gd name="adj" fmla="val 26087"/>
            </a:avLst>
          </a:prstGeom>
          <a:solidFill>
            <a:srgbClr val="6B7280"/>
          </a:solidFill>
          <a:ln/>
        </p:spPr>
      </p:sp>
      <p:sp>
        <p:nvSpPr>
          <p:cNvPr id="6" name="Text 4"/>
          <p:cNvSpPr/>
          <p:nvPr/>
        </p:nvSpPr>
        <p:spPr>
          <a:xfrm>
            <a:off x="420624" y="1243584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Policy Text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0624" y="1700784"/>
            <a:ext cx="18470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"MRI lumbar spine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only after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4-6 weeks conservative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treatment"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40864" y="2121408"/>
            <a:ext cx="219456" cy="0"/>
          </a:xfrm>
          <a:prstGeom prst="line">
            <a:avLst/>
          </a:prstGeom>
          <a:noFill/>
          <a:ln w="31750">
            <a:solidFill>
              <a:srgbClr val="E91E8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1207008"/>
            <a:ext cx="1993392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0" y="1207008"/>
            <a:ext cx="1993392" cy="420624"/>
          </a:xfrm>
          <a:prstGeom prst="roundRect">
            <a:avLst>
              <a:gd name="adj" fmla="val 26087"/>
            </a:avLst>
          </a:prstGeom>
          <a:solidFill>
            <a:srgbClr val="6B21C8"/>
          </a:solidFill>
          <a:ln/>
        </p:spPr>
      </p:sp>
      <p:sp>
        <p:nvSpPr>
          <p:cNvPr id="11" name="Text 9"/>
          <p:cNvSpPr/>
          <p:nvPr/>
        </p:nvSpPr>
        <p:spPr>
          <a:xfrm>
            <a:off x="2633472" y="1243584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Converter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33472" y="1700784"/>
            <a:ext cx="18470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mode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53712" y="2121408"/>
            <a:ext cx="219456" cy="0"/>
          </a:xfrm>
          <a:prstGeom prst="line">
            <a:avLst/>
          </a:prstGeom>
          <a:noFill/>
          <a:ln w="31750">
            <a:solidFill>
              <a:srgbClr val="E91E8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73168" y="1207008"/>
            <a:ext cx="1993392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73168" y="1207008"/>
            <a:ext cx="1993392" cy="420624"/>
          </a:xfrm>
          <a:prstGeom prst="roundRect">
            <a:avLst>
              <a:gd name="adj" fmla="val 26087"/>
            </a:avLst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243584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Executable Rule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1700784"/>
            <a:ext cx="18470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cpt_codes: [72148]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min_weeks: 4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FLAG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66560" y="2121408"/>
            <a:ext cx="219456" cy="0"/>
          </a:xfrm>
          <a:prstGeom prst="line">
            <a:avLst/>
          </a:prstGeom>
          <a:noFill/>
          <a:ln w="31750">
            <a:solidFill>
              <a:srgbClr val="E91E8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86016" y="1207008"/>
            <a:ext cx="1993392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86016" y="1207008"/>
            <a:ext cx="1993392" cy="420624"/>
          </a:xfrm>
          <a:prstGeom prst="roundRect">
            <a:avLst>
              <a:gd name="adj" fmla="val 26087"/>
            </a:avLst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7059168" y="1243584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Pre-Screen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59168" y="1700784"/>
            <a:ext cx="18470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BEFORE LLM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— instant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fully auditable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32735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Rules Currently in the Library: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47472" y="3657600"/>
            <a:ext cx="4160520" cy="384048"/>
          </a:xfrm>
          <a:prstGeom prst="roundRect">
            <a:avLst>
              <a:gd name="adj" fmla="val 14286"/>
            </a:avLst>
          </a:prstGeom>
          <a:solidFill>
            <a:srgbClr val="E9D5FF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" y="3694176"/>
            <a:ext cx="3904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0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Lumbar (CPT 72148)  |  CMS LCD L34220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81728" y="3657600"/>
            <a:ext cx="4160520" cy="384048"/>
          </a:xfrm>
          <a:prstGeom prst="roundRect">
            <a:avLst>
              <a:gd name="adj" fmla="val 14286"/>
            </a:avLst>
          </a:prstGeom>
          <a:solidFill>
            <a:srgbClr val="E9D5FF"/>
          </a:solidFill>
          <a:ln/>
        </p:spPr>
      </p:sp>
      <p:sp>
        <p:nvSpPr>
          <p:cNvPr id="27" name="Text 25"/>
          <p:cNvSpPr/>
          <p:nvPr/>
        </p:nvSpPr>
        <p:spPr>
          <a:xfrm>
            <a:off x="4809744" y="3694176"/>
            <a:ext cx="3904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0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Brain (CPT 70553)  |  CMS NCD 220.2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47472" y="4114800"/>
            <a:ext cx="4160520" cy="384048"/>
          </a:xfrm>
          <a:prstGeom prst="roundRect">
            <a:avLst>
              <a:gd name="adj" fmla="val 14286"/>
            </a:avLst>
          </a:prstGeom>
          <a:solidFill>
            <a:srgbClr val="E9D5FF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" y="4151376"/>
            <a:ext cx="3904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0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Knee Arthroplasty (CPT 27447)  |  CMS LCD L38548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81728" y="4114800"/>
            <a:ext cx="4160520" cy="384048"/>
          </a:xfrm>
          <a:prstGeom prst="roundRect">
            <a:avLst>
              <a:gd name="adj" fmla="val 14286"/>
            </a:avLst>
          </a:prstGeom>
          <a:solidFill>
            <a:srgbClr val="E9D5FF"/>
          </a:solidFill>
          <a:ln/>
        </p:spPr>
      </p:sp>
      <p:sp>
        <p:nvSpPr>
          <p:cNvPr id="31" name="Text 29"/>
          <p:cNvSpPr/>
          <p:nvPr/>
        </p:nvSpPr>
        <p:spPr>
          <a:xfrm>
            <a:off x="4809744" y="4151376"/>
            <a:ext cx="3904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0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E/M High Complexity (CPT 99215)  |  CMS E/M 2023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47472" y="4572000"/>
            <a:ext cx="4160520" cy="384048"/>
          </a:xfrm>
          <a:prstGeom prst="roundRect">
            <a:avLst>
              <a:gd name="adj" fmla="val 14286"/>
            </a:avLst>
          </a:prstGeom>
          <a:solidFill>
            <a:srgbClr val="E9D5FF"/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" y="4608576"/>
            <a:ext cx="3904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0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Echocardiography (CPT 93306)  |  CMS NCD 20.7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81728" y="4572000"/>
            <a:ext cx="4160520" cy="384048"/>
          </a:xfrm>
          <a:prstGeom prst="roundRect">
            <a:avLst>
              <a:gd name="adj" fmla="val 14286"/>
            </a:avLst>
          </a:prstGeom>
          <a:solidFill>
            <a:srgbClr val="E9D5FF"/>
          </a:solidFill>
          <a:ln/>
        </p:spPr>
      </p:sp>
      <p:sp>
        <p:nvSpPr>
          <p:cNvPr id="35" name="Text 33"/>
          <p:cNvSpPr/>
          <p:nvPr/>
        </p:nvSpPr>
        <p:spPr>
          <a:xfrm>
            <a:off x="4809744" y="4608576"/>
            <a:ext cx="3904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0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Therapy (CPT 97001)  |  CMS LCD L33865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0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in Action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synthetic ground-truth cases — functional smoke test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170432"/>
            <a:ext cx="2743200" cy="3749040"/>
          </a:xfrm>
          <a:prstGeom prst="roundRect">
            <a:avLst>
              <a:gd name="adj" fmla="val 4667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170432"/>
            <a:ext cx="2743200" cy="502920"/>
          </a:xfrm>
          <a:prstGeom prst="roundRect">
            <a:avLst>
              <a:gd name="adj" fmla="val 25455"/>
            </a:avLst>
          </a:prstGeom>
          <a:solidFill>
            <a:srgbClr val="E9D5FF">
              <a:alpha val="7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161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21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CLM-2025-001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3990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UPCODING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84048" y="1755648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21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Provider: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143000" y="175564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Sunrise Medical Group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84048" y="2258568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21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Complaint: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143000" y="225856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 lower back pain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84048" y="2761488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21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Codes: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143000" y="276148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M54.5 + CPT 27447 (knee arthroplasty)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84048" y="3264408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21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Fired: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143000" y="326440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KNEE_ARTHROPLASTY_001 — CPT 27447 incompatible with M54.5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84048" y="3785616"/>
            <a:ext cx="2514600" cy="932688"/>
          </a:xfrm>
          <a:prstGeom prst="roundRect">
            <a:avLst>
              <a:gd name="adj" fmla="val 9804"/>
            </a:avLst>
          </a:prstGeom>
          <a:solidFill>
            <a:srgbClr val="E91E8C">
              <a:alpha val="8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" y="382219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 WITH CAUSE (correct)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84048" y="4133088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95%  |  Recovery: $18,500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46120" y="1170432"/>
            <a:ext cx="2743200" cy="3749040"/>
          </a:xfrm>
          <a:prstGeom prst="roundRect">
            <a:avLst>
              <a:gd name="adj" fmla="val 4667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246120" y="1170432"/>
            <a:ext cx="2743200" cy="502920"/>
          </a:xfrm>
          <a:prstGeom prst="roundRect">
            <a:avLst>
              <a:gd name="adj" fmla="val 25455"/>
            </a:avLst>
          </a:prstGeom>
          <a:solidFill>
            <a:srgbClr val="E9D5FF">
              <a:alpha val="7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337560" y="12161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21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CLM-2025-002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37560" y="13990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NOT RENDERED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55848" y="1755648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21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Provider: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114800" y="175564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Wellness Center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355848" y="2258568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21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Complaint: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114800" y="225856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annual wellness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355848" y="2761488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21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Codes: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114800" y="276148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Z00.00 + CPT 70553 (brain MRI), 93306 (echo)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355848" y="3264408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21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Fired: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114800" y="326440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MRI_BRAIN_001 + ECHOCARDIOGRAPHY_001 triggered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355848" y="3785616"/>
            <a:ext cx="2514600" cy="932688"/>
          </a:xfrm>
          <a:prstGeom prst="roundRect">
            <a:avLst>
              <a:gd name="adj" fmla="val 9804"/>
            </a:avLst>
          </a:prstGeom>
          <a:solidFill>
            <a:srgbClr val="E91E8C">
              <a:alpha val="85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3355848" y="382219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 WITH CAUSE (correct)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355848" y="4133088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95%  |  Recovery: $12,400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17920" y="1170432"/>
            <a:ext cx="2743200" cy="3749040"/>
          </a:xfrm>
          <a:prstGeom prst="roundRect">
            <a:avLst>
              <a:gd name="adj" fmla="val 4667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217920" y="1170432"/>
            <a:ext cx="2743200" cy="502920"/>
          </a:xfrm>
          <a:prstGeom prst="roundRect">
            <a:avLst>
              <a:gd name="adj" fmla="val 25455"/>
            </a:avLst>
          </a:prstGeom>
          <a:solidFill>
            <a:srgbClr val="E9D5FF">
              <a:alpha val="7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309360" y="12161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21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CLM-2025-003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09360" y="13990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327648" y="1755648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21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Provider: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086600" y="175564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Downtown Cardiology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327648" y="2258568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21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Complaint: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086600" y="225856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 pain, shortness of breath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327648" y="2761488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21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Codes: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086600" y="276148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I20.9 + CPT 99223, 93000, 93306, 85025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327648" y="3264408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21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Fired: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086600" y="326440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violations — codes match clinical presentation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327648" y="3785616"/>
            <a:ext cx="2514600" cy="932688"/>
          </a:xfrm>
          <a:prstGeom prst="roundRect">
            <a:avLst>
              <a:gd name="adj" fmla="val 9804"/>
            </a:avLst>
          </a:prstGeom>
          <a:solidFill>
            <a:srgbClr val="00A651">
              <a:alpha val="85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6327648" y="382219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(correct)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327648" y="4133088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95%  |  Recovery: $0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74320" y="4828032"/>
            <a:ext cx="8595360" cy="201168"/>
          </a:xfrm>
          <a:prstGeom prst="roundRect">
            <a:avLst>
              <a:gd name="adj" fmla="val 27273"/>
            </a:avLst>
          </a:prstGeom>
          <a:solidFill>
            <a:srgbClr val="00A651">
              <a:alpha val="4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274320" y="4837176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3/3 correct  |  0 false positives  |  0 false negatives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0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Opportunities and Threats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47472" y="868680"/>
            <a:ext cx="4069080" cy="4069080"/>
          </a:xfrm>
          <a:prstGeom prst="roundRect">
            <a:avLst>
              <a:gd name="adj" fmla="val 3146"/>
            </a:avLst>
          </a:prstGeom>
          <a:solidFill>
            <a:srgbClr val="F0FDF4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9601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426464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38988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0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Investigator time yield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822960" y="166420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claims with documented rationale — SIU analysts focus on edge cases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249424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221284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0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Policy-to-rule automation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822960" y="248716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new CMS NCD/LCD prose to live edits in seconds, not weeks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3072384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22960" y="303580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0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Appeal defensibility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822960" y="331012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determination cites an exact CMS document ID, strengthening audit trails</a:t>
            </a:r>
            <a:endParaRPr lang="en-US" sz="11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3895344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22960" y="385876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0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generalizes</a:t>
            </a:r>
            <a:endParaRPr lang="en-US" sz="1250" dirty="0"/>
          </a:p>
        </p:txBody>
      </p:sp>
      <p:sp>
        <p:nvSpPr>
          <p:cNvPr id="16" name="Text 10"/>
          <p:cNvSpPr/>
          <p:nvPr/>
        </p:nvSpPr>
        <p:spPr>
          <a:xfrm>
            <a:off x="822960" y="413308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pipeline covers prepay review, provider risk profiling, and TPO operations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4727448" y="868680"/>
            <a:ext cx="4069080" cy="4069080"/>
          </a:xfrm>
          <a:prstGeom prst="roundRect">
            <a:avLst>
              <a:gd name="adj" fmla="val 3146"/>
            </a:avLst>
          </a:prstGeom>
          <a:solidFill>
            <a:srgbClr val="FFF1F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2"/>
          <p:cNvSpPr/>
          <p:nvPr/>
        </p:nvSpPr>
        <p:spPr>
          <a:xfrm>
            <a:off x="4882896" y="9601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</a:t>
            </a:r>
            <a:endParaRPr lang="en-US" sz="16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5464" y="1426464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212080" y="138988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0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risk</a:t>
            </a:r>
            <a:endParaRPr lang="en-US" sz="1250" dirty="0"/>
          </a:p>
        </p:txBody>
      </p:sp>
      <p:sp>
        <p:nvSpPr>
          <p:cNvPr id="21" name="Text 14"/>
          <p:cNvSpPr/>
          <p:nvPr/>
        </p:nvSpPr>
        <p:spPr>
          <a:xfrm>
            <a:off x="5212080" y="166420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outputs must be recommendations for human review, never autonomous denials</a:t>
            </a:r>
            <a:endParaRPr lang="en-US" sz="11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5464" y="2249424"/>
            <a:ext cx="256032" cy="256032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212080" y="221284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0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fraud</a:t>
            </a:r>
            <a:endParaRPr lang="en-US" sz="1250" dirty="0"/>
          </a:p>
        </p:txBody>
      </p:sp>
      <p:sp>
        <p:nvSpPr>
          <p:cNvPr id="24" name="Text 16"/>
          <p:cNvSpPr/>
          <p:nvPr/>
        </p:nvSpPr>
        <p:spPr>
          <a:xfrm>
            <a:off x="5212080" y="248716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clinical documents and deepfake billing are an emerging attack vector</a:t>
            </a:r>
            <a:endParaRPr lang="en-US" sz="110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5464" y="3072384"/>
            <a:ext cx="256032" cy="25603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5212080" y="303580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0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and HIPAA exposure</a:t>
            </a:r>
            <a:endParaRPr lang="en-US" sz="1250" dirty="0"/>
          </a:p>
        </p:txBody>
      </p:sp>
      <p:sp>
        <p:nvSpPr>
          <p:cNvPr id="27" name="Text 18"/>
          <p:cNvSpPr/>
          <p:nvPr/>
        </p:nvSpPr>
        <p:spPr>
          <a:xfrm>
            <a:off x="5212080" y="331012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requires HIPAA-compliant infra and BAAs before any production routing</a:t>
            </a:r>
            <a:endParaRPr lang="en-US" sz="11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5464" y="3895344"/>
            <a:ext cx="256032" cy="256032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5212080" y="385876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0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drift</a:t>
            </a:r>
            <a:endParaRPr lang="en-US" sz="1250" dirty="0"/>
          </a:p>
        </p:txBody>
      </p:sp>
      <p:sp>
        <p:nvSpPr>
          <p:cNvPr id="30" name="Text 20"/>
          <p:cNvSpPr/>
          <p:nvPr/>
        </p:nvSpPr>
        <p:spPr>
          <a:xfrm>
            <a:off x="5212080" y="413308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updates NCDs/LCDs continuously — rules must be refreshed to stay current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0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Options for Cotiviti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PayGuard AI prototypes three capabilities Cotiviti could operationalize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170432"/>
            <a:ext cx="2724912" cy="3767328"/>
          </a:xfrm>
          <a:prstGeom prst="roundRect">
            <a:avLst>
              <a:gd name="adj" fmla="val 46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70432"/>
            <a:ext cx="2724912" cy="987552"/>
          </a:xfrm>
          <a:prstGeom prst="roundRect">
            <a:avLst>
              <a:gd name="adj" fmla="val 12963"/>
            </a:avLst>
          </a:prstGeom>
          <a:solidFill>
            <a:srgbClr val="6B21C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1243584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1216152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29768" y="1536192"/>
            <a:ext cx="2505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Prepayment Layer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9768" y="2249424"/>
            <a:ext cx="2487168" cy="274320"/>
          </a:xfrm>
          <a:prstGeom prst="roundRect">
            <a:avLst>
              <a:gd name="adj" fmla="val 20000"/>
            </a:avLst>
          </a:prstGeom>
          <a:solidFill>
            <a:srgbClr val="E9D5FF"/>
          </a:solidFill>
          <a:ln/>
        </p:spPr>
      </p:sp>
      <p:sp>
        <p:nvSpPr>
          <p:cNvPr id="10" name="Text 7"/>
          <p:cNvSpPr/>
          <p:nvPr/>
        </p:nvSpPr>
        <p:spPr>
          <a:xfrm>
            <a:off x="466344" y="2267712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0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to Claim Pattern Review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29768" y="2596896"/>
            <a:ext cx="250545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multi-agent LLM reasoning layer to Cotiviti's existing Claim Pattern Review. Each flagged claim gets a plain-English, CMS-cited rationale before it reaches a credentialed analyst.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29768" y="3840480"/>
            <a:ext cx="2505456" cy="914400"/>
          </a:xfrm>
          <a:prstGeom prst="roundRect">
            <a:avLst>
              <a:gd name="adj" fmla="val 8000"/>
            </a:avLst>
          </a:prstGeom>
          <a:solidFill>
            <a:srgbClr val="F7F5FF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3877056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21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in PayGuard AI: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02920" y="4096512"/>
            <a:ext cx="2359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0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end-to-end with live CMS API grounding and PDF audit export per claim.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246120" y="1170432"/>
            <a:ext cx="2724912" cy="3767328"/>
          </a:xfrm>
          <a:prstGeom prst="roundRect">
            <a:avLst>
              <a:gd name="adj" fmla="val 46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46120" y="1170432"/>
            <a:ext cx="2724912" cy="987552"/>
          </a:xfrm>
          <a:prstGeom prst="roundRect">
            <a:avLst>
              <a:gd name="adj" fmla="val 12963"/>
            </a:avLst>
          </a:prstGeom>
          <a:solidFill>
            <a:srgbClr val="F59E0B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848" y="1243584"/>
            <a:ext cx="347472" cy="34747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794760" y="1216152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3355848" y="1536192"/>
            <a:ext cx="2505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Policy-to-Rule Conversion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3355848" y="2249424"/>
            <a:ext cx="2487168" cy="274320"/>
          </a:xfrm>
          <a:prstGeom prst="roundRect">
            <a:avLst>
              <a:gd name="adj" fmla="val 20000"/>
            </a:avLst>
          </a:prstGeom>
          <a:solidFill>
            <a:srgbClr val="E9D5FF"/>
          </a:solidFill>
          <a:ln/>
        </p:spPr>
      </p:sp>
      <p:sp>
        <p:nvSpPr>
          <p:cNvPr id="21" name="Text 17"/>
          <p:cNvSpPr/>
          <p:nvPr/>
        </p:nvSpPr>
        <p:spPr>
          <a:xfrm>
            <a:off x="3392424" y="2267712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0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 edit library lag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3355848" y="2596896"/>
            <a:ext cx="250545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tooling to convert new CMS NCD/LCD prose into structured executable edits automatically. New policy becomes a live prepayment rule in minutes, not weeks.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3355848" y="3840480"/>
            <a:ext cx="2505456" cy="914400"/>
          </a:xfrm>
          <a:prstGeom prst="roundRect">
            <a:avLst>
              <a:gd name="adj" fmla="val 8000"/>
            </a:avLst>
          </a:prstGeom>
          <a:solidFill>
            <a:srgbClr val="F7F5FF"/>
          </a:solidFill>
          <a:ln/>
        </p:spPr>
      </p:sp>
      <p:sp>
        <p:nvSpPr>
          <p:cNvPr id="24" name="Text 20"/>
          <p:cNvSpPr/>
          <p:nvPr/>
        </p:nvSpPr>
        <p:spPr>
          <a:xfrm>
            <a:off x="3429000" y="3877056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21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in PayGuard AI: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3429000" y="4096512"/>
            <a:ext cx="2359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0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Prototyped via LLM-assisted policy-to-JSON converter feeding the deterministic rules engine.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6172200" y="1170432"/>
            <a:ext cx="2724912" cy="3767328"/>
          </a:xfrm>
          <a:prstGeom prst="roundRect">
            <a:avLst>
              <a:gd name="adj" fmla="val 46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6172200" y="1170432"/>
            <a:ext cx="2724912" cy="987552"/>
          </a:xfrm>
          <a:prstGeom prst="roundRect">
            <a:avLst>
              <a:gd name="adj" fmla="val 12963"/>
            </a:avLst>
          </a:prstGeom>
          <a:solidFill>
            <a:srgbClr val="0D9488"/>
          </a:solidFill>
          <a:ln/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1243584"/>
            <a:ext cx="347472" cy="347472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720840" y="1216152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C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6281928" y="1536192"/>
            <a:ext cx="2505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AI Governance Program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6281928" y="2249424"/>
            <a:ext cx="2487168" cy="274320"/>
          </a:xfrm>
          <a:prstGeom prst="roundRect">
            <a:avLst>
              <a:gd name="adj" fmla="val 20000"/>
            </a:avLst>
          </a:prstGeom>
          <a:solidFill>
            <a:srgbClr val="E9D5FF"/>
          </a:solidFill>
          <a:ln/>
        </p:spPr>
      </p:sp>
      <p:sp>
        <p:nvSpPr>
          <p:cNvPr id="32" name="Text 27"/>
          <p:cNvSpPr/>
          <p:nvPr/>
        </p:nvSpPr>
        <p:spPr>
          <a:xfrm>
            <a:off x="6318504" y="2267712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0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Client-facing differentiator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6281928" y="2596896"/>
            <a:ext cx="250545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Formalize and publish a governance framework: human-in-the-loop requirements, PHI safeguards, bias monitoring, drift alerting, and accuracy benchmarking vs. ground truth.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6281928" y="3840480"/>
            <a:ext cx="2505456" cy="914400"/>
          </a:xfrm>
          <a:prstGeom prst="roundRect">
            <a:avLst>
              <a:gd name="adj" fmla="val 8000"/>
            </a:avLst>
          </a:prstGeom>
          <a:solidFill>
            <a:srgbClr val="F7F5FF"/>
          </a:solidFill>
          <a:ln/>
        </p:spPr>
      </p:sp>
      <p:sp>
        <p:nvSpPr>
          <p:cNvPr id="35" name="Text 30"/>
          <p:cNvSpPr/>
          <p:nvPr/>
        </p:nvSpPr>
        <p:spPr>
          <a:xfrm>
            <a:off x="6355080" y="3877056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21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in PayGuard AI:</a:t>
            </a:r>
            <a:endParaRPr lang="en-US" sz="950" dirty="0"/>
          </a:p>
        </p:txBody>
      </p:sp>
      <p:sp>
        <p:nvSpPr>
          <p:cNvPr id="36" name="Text 31"/>
          <p:cNvSpPr/>
          <p:nvPr/>
        </p:nvSpPr>
        <p:spPr>
          <a:xfrm>
            <a:off x="6355080" y="4096512"/>
            <a:ext cx="2359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0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GOVERNANCE.md and evaluation harness scoring against labeled cases are included as a starting template.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0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 and Technical Foundation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0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Controls</a:t>
            </a:r>
            <a:endParaRPr lang="en-US" sz="1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07592"/>
            <a:ext cx="237744" cy="2377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86384" y="128016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review required before any claim action</a:t>
            </a:r>
            <a:endParaRPr lang="en-US" sz="11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01368"/>
            <a:ext cx="237744" cy="2377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86384" y="177393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outputs labeled as AI recommendations, never autonomous denials</a:t>
            </a:r>
            <a:endParaRPr lang="en-US" sz="11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95144"/>
            <a:ext cx="237744" cy="23774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86384" y="226771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only — no real PHI used at any stage</a:t>
            </a:r>
            <a:endParaRPr lang="en-US" sz="11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788920"/>
            <a:ext cx="237744" cy="23774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86384" y="276148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GOVERNANCE.md documents all controls and production requirements</a:t>
            </a:r>
            <a:endParaRPr lang="en-US" sz="11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282696"/>
            <a:ext cx="237744" cy="237744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786384" y="325526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harness scores system against labeled ground-truth claims</a:t>
            </a:r>
            <a:endParaRPr lang="en-US" sz="115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776472"/>
            <a:ext cx="237744" cy="237744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786384" y="374904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calibration guide prevents overconfident outputs</a:t>
            </a:r>
            <a:endParaRPr lang="en-US" sz="1150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270248"/>
            <a:ext cx="237744" cy="237744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786384" y="424281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monitoring across provider specialties flagged as future requirement</a:t>
            </a:r>
            <a:endParaRPr lang="en-US" sz="1150" dirty="0"/>
          </a:p>
        </p:txBody>
      </p:sp>
      <p:sp>
        <p:nvSpPr>
          <p:cNvPr id="18" name="Text 9"/>
          <p:cNvSpPr/>
          <p:nvPr/>
        </p:nvSpPr>
        <p:spPr>
          <a:xfrm>
            <a:off x="5029200" y="8686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0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700" dirty="0"/>
          </a:p>
        </p:txBody>
      </p:sp>
      <p:sp>
        <p:nvSpPr>
          <p:cNvPr id="19" name="Shape 10"/>
          <p:cNvSpPr/>
          <p:nvPr/>
        </p:nvSpPr>
        <p:spPr>
          <a:xfrm>
            <a:off x="5029200" y="1298448"/>
            <a:ext cx="3749040" cy="402336"/>
          </a:xfrm>
          <a:prstGeom prst="roundRect">
            <a:avLst>
              <a:gd name="adj" fmla="val 15909"/>
            </a:avLst>
          </a:prstGeom>
          <a:solidFill>
            <a:srgbClr val="F7F5FF"/>
          </a:solidFill>
          <a:ln/>
        </p:spPr>
      </p:sp>
      <p:sp>
        <p:nvSpPr>
          <p:cNvPr id="20" name="Text 11"/>
          <p:cNvSpPr/>
          <p:nvPr/>
        </p:nvSpPr>
        <p:spPr>
          <a:xfrm>
            <a:off x="5138928" y="13533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21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100" dirty="0"/>
          </a:p>
        </p:txBody>
      </p:sp>
      <p:sp>
        <p:nvSpPr>
          <p:cNvPr id="21" name="Text 12"/>
          <p:cNvSpPr/>
          <p:nvPr/>
        </p:nvSpPr>
        <p:spPr>
          <a:xfrm>
            <a:off x="6400800" y="1353312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(JSON mode)</a:t>
            </a:r>
            <a:endParaRPr lang="en-US" sz="1100" dirty="0"/>
          </a:p>
        </p:txBody>
      </p:sp>
      <p:sp>
        <p:nvSpPr>
          <p:cNvPr id="22" name="Shape 13"/>
          <p:cNvSpPr/>
          <p:nvPr/>
        </p:nvSpPr>
        <p:spPr>
          <a:xfrm>
            <a:off x="5029200" y="1773936"/>
            <a:ext cx="374904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/>
        </p:spPr>
      </p:sp>
      <p:sp>
        <p:nvSpPr>
          <p:cNvPr id="23" name="Text 14"/>
          <p:cNvSpPr/>
          <p:nvPr/>
        </p:nvSpPr>
        <p:spPr>
          <a:xfrm>
            <a:off x="5138928" y="18288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21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100" dirty="0"/>
          </a:p>
        </p:txBody>
      </p:sp>
      <p:sp>
        <p:nvSpPr>
          <p:cNvPr id="24" name="Text 15"/>
          <p:cNvSpPr/>
          <p:nvPr/>
        </p:nvSpPr>
        <p:spPr>
          <a:xfrm>
            <a:off x="6400800" y="1828800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3-agent custom pipeline</a:t>
            </a:r>
            <a:endParaRPr lang="en-US" sz="1100" dirty="0"/>
          </a:p>
        </p:txBody>
      </p:sp>
      <p:sp>
        <p:nvSpPr>
          <p:cNvPr id="25" name="Shape 16"/>
          <p:cNvSpPr/>
          <p:nvPr/>
        </p:nvSpPr>
        <p:spPr>
          <a:xfrm>
            <a:off x="5029200" y="2249424"/>
            <a:ext cx="3749040" cy="402336"/>
          </a:xfrm>
          <a:prstGeom prst="roundRect">
            <a:avLst>
              <a:gd name="adj" fmla="val 15909"/>
            </a:avLst>
          </a:prstGeom>
          <a:solidFill>
            <a:srgbClr val="F7F5FF"/>
          </a:solidFill>
          <a:ln/>
        </p:spPr>
      </p:sp>
      <p:sp>
        <p:nvSpPr>
          <p:cNvPr id="26" name="Text 17"/>
          <p:cNvSpPr/>
          <p:nvPr/>
        </p:nvSpPr>
        <p:spPr>
          <a:xfrm>
            <a:off x="5138928" y="23042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21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27" name="Text 18"/>
          <p:cNvSpPr/>
          <p:nvPr/>
        </p:nvSpPr>
        <p:spPr>
          <a:xfrm>
            <a:off x="6400800" y="2304288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v2 schema</a:t>
            </a:r>
            <a:endParaRPr lang="en-US" sz="1100" dirty="0"/>
          </a:p>
        </p:txBody>
      </p:sp>
      <p:sp>
        <p:nvSpPr>
          <p:cNvPr id="28" name="Shape 19"/>
          <p:cNvSpPr/>
          <p:nvPr/>
        </p:nvSpPr>
        <p:spPr>
          <a:xfrm>
            <a:off x="5029200" y="2724912"/>
            <a:ext cx="374904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/>
        </p:spPr>
      </p:sp>
      <p:sp>
        <p:nvSpPr>
          <p:cNvPr id="29" name="Text 20"/>
          <p:cNvSpPr/>
          <p:nvPr/>
        </p:nvSpPr>
        <p:spPr>
          <a:xfrm>
            <a:off x="5138928" y="277977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21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API</a:t>
            </a:r>
            <a:endParaRPr lang="en-US" sz="1100" dirty="0"/>
          </a:p>
        </p:txBody>
      </p:sp>
      <p:sp>
        <p:nvSpPr>
          <p:cNvPr id="30" name="Text 21"/>
          <p:cNvSpPr/>
          <p:nvPr/>
        </p:nvSpPr>
        <p:spPr>
          <a:xfrm>
            <a:off x="6400800" y="2779776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CMS Coverage API</a:t>
            </a:r>
            <a:endParaRPr lang="en-US" sz="1100" dirty="0"/>
          </a:p>
        </p:txBody>
      </p:sp>
      <p:sp>
        <p:nvSpPr>
          <p:cNvPr id="31" name="Shape 22"/>
          <p:cNvSpPr/>
          <p:nvPr/>
        </p:nvSpPr>
        <p:spPr>
          <a:xfrm>
            <a:off x="5029200" y="3200400"/>
            <a:ext cx="3749040" cy="402336"/>
          </a:xfrm>
          <a:prstGeom prst="roundRect">
            <a:avLst>
              <a:gd name="adj" fmla="val 15909"/>
            </a:avLst>
          </a:prstGeom>
          <a:solidFill>
            <a:srgbClr val="F7F5FF"/>
          </a:solidFill>
          <a:ln/>
        </p:spPr>
      </p:sp>
      <p:sp>
        <p:nvSpPr>
          <p:cNvPr id="32" name="Text 23"/>
          <p:cNvSpPr/>
          <p:nvPr/>
        </p:nvSpPr>
        <p:spPr>
          <a:xfrm>
            <a:off x="5138928" y="325526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21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33" name="Text 24"/>
          <p:cNvSpPr/>
          <p:nvPr/>
        </p:nvSpPr>
        <p:spPr>
          <a:xfrm>
            <a:off x="6400800" y="3255264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harness</a:t>
            </a:r>
            <a:endParaRPr lang="en-US" sz="1100" dirty="0"/>
          </a:p>
        </p:txBody>
      </p:sp>
      <p:sp>
        <p:nvSpPr>
          <p:cNvPr id="34" name="Shape 25"/>
          <p:cNvSpPr/>
          <p:nvPr/>
        </p:nvSpPr>
        <p:spPr>
          <a:xfrm>
            <a:off x="5029200" y="3675888"/>
            <a:ext cx="374904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/>
        </p:spPr>
      </p:sp>
      <p:sp>
        <p:nvSpPr>
          <p:cNvPr id="35" name="Text 26"/>
          <p:cNvSpPr/>
          <p:nvPr/>
        </p:nvSpPr>
        <p:spPr>
          <a:xfrm>
            <a:off x="5138928" y="37307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21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100" dirty="0"/>
          </a:p>
        </p:txBody>
      </p:sp>
      <p:sp>
        <p:nvSpPr>
          <p:cNvPr id="36" name="Text 27"/>
          <p:cNvSpPr/>
          <p:nvPr/>
        </p:nvSpPr>
        <p:spPr>
          <a:xfrm>
            <a:off x="6400800" y="3730752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00" dirty="0"/>
          </a:p>
        </p:txBody>
      </p:sp>
      <p:sp>
        <p:nvSpPr>
          <p:cNvPr id="37" name="Shape 28"/>
          <p:cNvSpPr/>
          <p:nvPr/>
        </p:nvSpPr>
        <p:spPr>
          <a:xfrm>
            <a:off x="5029200" y="4151376"/>
            <a:ext cx="3749040" cy="402336"/>
          </a:xfrm>
          <a:prstGeom prst="roundRect">
            <a:avLst>
              <a:gd name="adj" fmla="val 15909"/>
            </a:avLst>
          </a:prstGeom>
          <a:solidFill>
            <a:srgbClr val="F7F5FF"/>
          </a:solidFill>
          <a:ln/>
        </p:spPr>
      </p:sp>
      <p:sp>
        <p:nvSpPr>
          <p:cNvPr id="38" name="Text 29"/>
          <p:cNvSpPr/>
          <p:nvPr/>
        </p:nvSpPr>
        <p:spPr>
          <a:xfrm>
            <a:off x="5138928" y="4206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21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100" dirty="0"/>
          </a:p>
        </p:txBody>
      </p:sp>
      <p:sp>
        <p:nvSpPr>
          <p:cNvPr id="39" name="Text 30"/>
          <p:cNvSpPr/>
          <p:nvPr/>
        </p:nvSpPr>
        <p:spPr>
          <a:xfrm>
            <a:off x="6400800" y="4206240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 PDF per claim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5029200" y="4626864"/>
            <a:ext cx="374904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/>
        </p:spPr>
      </p:sp>
      <p:sp>
        <p:nvSpPr>
          <p:cNvPr id="41" name="Text 32"/>
          <p:cNvSpPr/>
          <p:nvPr/>
        </p:nvSpPr>
        <p:spPr>
          <a:xfrm>
            <a:off x="5138928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21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100" dirty="0"/>
          </a:p>
        </p:txBody>
      </p:sp>
      <p:sp>
        <p:nvSpPr>
          <p:cNvPr id="42" name="Text 33"/>
          <p:cNvSpPr/>
          <p:nvPr/>
        </p:nvSpPr>
        <p:spPr>
          <a:xfrm>
            <a:off x="6400800" y="4681728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GOVERNANCE.md + eval.py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0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0" cy="5143500"/>
          </a:xfrm>
          <a:prstGeom prst="rect">
            <a:avLst/>
          </a:prstGeom>
          <a:solidFill>
            <a:srgbClr val="4A008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65760"/>
            <a:ext cx="868680" cy="868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1325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PayGuard AI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11480" y="2176272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for explainable agentic FWA detection is clear.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 is proven.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governance controls are in place.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11480" y="333756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synthetic data only. No real PHI used.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11480" y="41605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Neha Save  |  MS Analytics, Northeastern University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11480" y="44622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Engineer, DeepThink Health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035040" y="658368"/>
            <a:ext cx="2834640" cy="713232"/>
          </a:xfrm>
          <a:prstGeom prst="roundRect">
            <a:avLst>
              <a:gd name="adj" fmla="val 12821"/>
            </a:avLst>
          </a:prstGeom>
          <a:solidFill>
            <a:srgbClr val="FFFFFF">
              <a:alpha val="10000"/>
            </a:srgbClr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813816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601968" y="822960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$16.6B problem — HHS OIG 2025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035040" y="1545336"/>
            <a:ext cx="2834640" cy="713232"/>
          </a:xfrm>
          <a:prstGeom prst="roundRect">
            <a:avLst>
              <a:gd name="adj" fmla="val 12821"/>
            </a:avLst>
          </a:prstGeom>
          <a:solidFill>
            <a:srgbClr val="FFFFFF">
              <a:alpha val="10000"/>
            </a:srgbClr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1700784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601968" y="1709928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3-agent LLM + deterministic hybrid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035040" y="2432304"/>
            <a:ext cx="2834640" cy="713232"/>
          </a:xfrm>
          <a:prstGeom prst="roundRect">
            <a:avLst>
              <a:gd name="adj" fmla="val 12821"/>
            </a:avLst>
          </a:prstGeom>
          <a:solidFill>
            <a:srgbClr val="FFFFFF">
              <a:alpha val="10000"/>
            </a:srgbClr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4768" y="2587752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601968" y="2596896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Policy-to-rule engine for CMS NCD/LCD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6035040" y="3319272"/>
            <a:ext cx="2834640" cy="713232"/>
          </a:xfrm>
          <a:prstGeom prst="roundRect">
            <a:avLst>
              <a:gd name="adj" fmla="val 12821"/>
            </a:avLst>
          </a:prstGeom>
          <a:solidFill>
            <a:srgbClr val="FFFFFF">
              <a:alpha val="10000"/>
            </a:srgbClr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4768" y="3474720"/>
            <a:ext cx="365760" cy="36576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601968" y="3483864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governance built in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6035040" y="4206240"/>
            <a:ext cx="2834640" cy="713232"/>
          </a:xfrm>
          <a:prstGeom prst="roundRect">
            <a:avLst>
              <a:gd name="adj" fmla="val 12821"/>
            </a:avLst>
          </a:prstGeom>
          <a:solidFill>
            <a:srgbClr val="FFFFFF">
              <a:alpha val="10000"/>
            </a:srgbClr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4768" y="4361688"/>
            <a:ext cx="365760" cy="36576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601968" y="4370832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smoke test, 0 false positives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PayGuard AI</dc:title>
  <dc:subject>PptxGenJS Presentation</dc:subject>
  <dc:creator>Neha Save</dc:creator>
  <cp:lastModifiedBy>Neha Save</cp:lastModifiedBy>
  <cp:revision>1</cp:revision>
  <dcterms:created xsi:type="dcterms:W3CDTF">2026-06-30T03:05:41Z</dcterms:created>
  <dcterms:modified xsi:type="dcterms:W3CDTF">2026-06-30T03:05:41Z</dcterms:modified>
</cp:coreProperties>
</file>