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010" autoAdjust="0"/>
    <p:restoredTop sz="94610"/>
  </p:normalViewPr>
  <p:slideViewPr>
    <p:cSldViewPr snapToGrid="0" snapToObjects="1">
      <p:cViewPr varScale="1">
        <p:scale>
          <a:sx n="117" d="100"/>
          <a:sy n="117" d="100"/>
        </p:scale>
        <p:origin x="296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769348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PayGuard AI: the problem, the solution, and the three headline numbers. Built as a working proof of concept, not just a concept.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problems: the scale ($16.6B), the tool gap (static rules), and the explainability gap. Each maps to one of the three agents in PayGuard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architecture: claim goes in, deterministic rules pre-screen, then 3 LLM agents each specialize. Live CMS API grounds every output. Four outputs at the bottom.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agent does one job. The key: context passing. Agent 2 knows what Agent 1 found; Agent 3 synthesizes both. Chain-of-thought, not three separate classifiers.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deterministic layer. Plain English CMS policy in, executable JSON rule out via GPT-4o-mini. That rule pre-screens every future claim instantly before any LLM agent runs.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each case: what was submitted, which rule fired, what the agents determined. Behavioral correctness on ground-truth scenarios, not a statistical performance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opportunities and four threats. Core principle across all threats: human-in-the-loop, always. PayGuard AI is decision support, not autonomous adjudication.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options, each tied directly to what PayGuard AI already demonstrates. Recommendation: start with A and C together on de-identified data, expand to B once the rule library proves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Governance controls built in from day one, not added as an afterthought. GOVERNANCE.md, evaluation harness, and human-in-the-loop framing are all in the submitted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 slide. Big problem, working system, governance-first posture, clear path for Cotiviti. Invite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2.png"/><Relationship Id="rId4" Type="http://schemas.openxmlformats.org/officeDocument/2006/relationships/hyperlink" Target="https://payguard-ai-jv5rvuxekszih7ewdxrlcr.streamlit.app/" TargetMode="External"/><Relationship Id="rId9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05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9280" cy="5143500"/>
          </a:xfrm>
          <a:prstGeom prst="rect">
            <a:avLst/>
          </a:prstGeom>
          <a:solidFill>
            <a:srgbClr val="4A008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320040"/>
            <a:ext cx="1005840" cy="10058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11480" y="141732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PayGuard AI</a:t>
            </a:r>
            <a:endParaRPr lang="en-US" sz="5200" dirty="0"/>
          </a:p>
        </p:txBody>
      </p:sp>
      <p:sp>
        <p:nvSpPr>
          <p:cNvPr id="5" name="Text 2"/>
          <p:cNvSpPr/>
          <p:nvPr/>
        </p:nvSpPr>
        <p:spPr>
          <a:xfrm>
            <a:off x="411480" y="2395728"/>
            <a:ext cx="4983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D8B4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Agentic Generative AI for</a:t>
            </a:r>
            <a:endParaRPr lang="en-US" sz="17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D8B4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Fraud, Waste, and Abuse Detection</a:t>
            </a:r>
            <a:endParaRPr lang="en-US" sz="17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D8B4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Healthcare Payment Integrity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411480" y="416052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Neha Save  |  MS Analytics, Northeastern University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411480" y="446227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989320" y="640080"/>
            <a:ext cx="2834640" cy="1170432"/>
          </a:xfrm>
          <a:prstGeom prst="roundRect">
            <a:avLst>
              <a:gd name="adj" fmla="val 9375"/>
            </a:avLst>
          </a:prstGeom>
          <a:solidFill>
            <a:srgbClr val="FFFFFF">
              <a:alpha val="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080760" y="731520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9A8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$16.6B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6080760" y="1261872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D8B4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HHS confirmed healthcare</a:t>
            </a:r>
            <a:endParaRPr lang="en-US" sz="11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D8B4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and overpayments, 2025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989320" y="2057400"/>
            <a:ext cx="2834640" cy="1170432"/>
          </a:xfrm>
          <a:prstGeom prst="roundRect">
            <a:avLst>
              <a:gd name="adj" fmla="val 9375"/>
            </a:avLst>
          </a:prstGeom>
          <a:solidFill>
            <a:srgbClr val="FFFFFF">
              <a:alpha val="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6080760" y="2148840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9A8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Agents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6080760" y="2679192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D8B4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review, FWA detection,</a:t>
            </a:r>
            <a:endParaRPr lang="en-US" sz="11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D8B4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decision synthesis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89320" y="3474720"/>
            <a:ext cx="2834640" cy="1170432"/>
          </a:xfrm>
          <a:prstGeom prst="roundRect">
            <a:avLst>
              <a:gd name="adj" fmla="val 9375"/>
            </a:avLst>
          </a:prstGeom>
          <a:solidFill>
            <a:srgbClr val="FFFFFF">
              <a:alpha val="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6080760" y="3566160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9A8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6080760" y="4096512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D8B4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Smoke test accuracy on</a:t>
            </a:r>
            <a:endParaRPr lang="en-US" sz="11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D8B4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ground-truth cases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5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A05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FWA costs billions annually and traditional tools are losing the fight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384048" y="1325880"/>
            <a:ext cx="2578608" cy="3401568"/>
          </a:xfrm>
          <a:prstGeom prst="roundRect">
            <a:avLst>
              <a:gd name="adj" fmla="val 4965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371600" y="1508760"/>
            <a:ext cx="594360" cy="594360"/>
          </a:xfrm>
          <a:prstGeom prst="ellipse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4752" y="1581912"/>
            <a:ext cx="448056" cy="4480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93776" y="2231136"/>
            <a:ext cx="2359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0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of the Problem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93776" y="2761488"/>
            <a:ext cx="2359152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$16.6B in confirmed healthcare</a:t>
            </a:r>
            <a:endParaRPr lang="en-US" sz="125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and improper payments</a:t>
            </a:r>
            <a:endParaRPr lang="en-US" sz="125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by HHS OIG in 2025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3218688" y="1325880"/>
            <a:ext cx="2578608" cy="3401568"/>
          </a:xfrm>
          <a:prstGeom prst="roundRect">
            <a:avLst>
              <a:gd name="adj" fmla="val 4965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4206240" y="1508760"/>
            <a:ext cx="594360" cy="59436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9392" y="1581912"/>
            <a:ext cx="448056" cy="44805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328416" y="2231136"/>
            <a:ext cx="2359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0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Tools Fail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3328416" y="2761488"/>
            <a:ext cx="2359152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rule engines catch only</a:t>
            </a:r>
            <a:endParaRPr lang="en-US" sz="125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billing patterns. Novel</a:t>
            </a:r>
            <a:endParaRPr lang="en-US" sz="125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schemes evolve faster than rules.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053328" y="1325880"/>
            <a:ext cx="2578608" cy="3401568"/>
          </a:xfrm>
          <a:prstGeom prst="roundRect">
            <a:avLst>
              <a:gd name="adj" fmla="val 4965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7040880" y="1508760"/>
            <a:ext cx="594360" cy="594360"/>
          </a:xfrm>
          <a:prstGeom prst="ellipse">
            <a:avLst/>
          </a:prstGeom>
          <a:solidFill>
            <a:srgbClr val="4A008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14032" y="1581912"/>
            <a:ext cx="448056" cy="44805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163056" y="2231136"/>
            <a:ext cx="2359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0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Explainable Rationale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6163056" y="2761488"/>
            <a:ext cx="2359152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Black-box risk scores cannot</a:t>
            </a:r>
            <a:endParaRPr lang="en-US" sz="125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provider disputes or</a:t>
            </a:r>
            <a:endParaRPr lang="en-US" sz="125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audits requiring</a:t>
            </a:r>
            <a:endParaRPr lang="en-US" sz="125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CMS policy citations.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05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PayGuard AI Architecture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8B4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deterministic plus agentic LLM pipeline grounded in live CMS policy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274320" y="1170432"/>
            <a:ext cx="1965960" cy="914400"/>
          </a:xfrm>
          <a:prstGeom prst="roundRect">
            <a:avLst>
              <a:gd name="adj" fmla="val 10000"/>
            </a:avLst>
          </a:prstGeom>
          <a:solidFill>
            <a:srgbClr val="FFFFFF">
              <a:alpha val="8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74320" y="120700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 Input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74320" y="1536192"/>
            <a:ext cx="1965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ICD-10, CPT codes</a:t>
            </a:r>
            <a:endParaRPr lang="en-US" sz="11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provider, patient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240280" y="1627632"/>
            <a:ext cx="429768" cy="0"/>
          </a:xfrm>
          <a:prstGeom prst="line">
            <a:avLst/>
          </a:prstGeom>
          <a:noFill/>
          <a:ln w="25400">
            <a:solidFill>
              <a:srgbClr val="E91E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2670048" y="1051560"/>
            <a:ext cx="2194560" cy="1152144"/>
          </a:xfrm>
          <a:prstGeom prst="roundRect">
            <a:avLst>
              <a:gd name="adj" fmla="val 7937"/>
            </a:avLst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670048" y="109728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0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Rules Engine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670048" y="1426464"/>
            <a:ext cx="2194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50" dirty="0">
                <a:solidFill>
                  <a:srgbClr val="1A0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CMS rules, deterministic</a:t>
            </a:r>
            <a:endParaRPr lang="en-US" sz="10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050" dirty="0">
                <a:solidFill>
                  <a:srgbClr val="1A0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and fully auditable</a:t>
            </a:r>
            <a:endParaRPr lang="en-US" sz="10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050" dirty="0">
                <a:solidFill>
                  <a:srgbClr val="1A0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NCD/LCD to JSON converter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864608" y="1627632"/>
            <a:ext cx="347472" cy="0"/>
          </a:xfrm>
          <a:prstGeom prst="line">
            <a:avLst/>
          </a:prstGeom>
          <a:noFill/>
          <a:ln w="25400">
            <a:solidFill>
              <a:srgbClr val="E91E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5212080" y="1051560"/>
            <a:ext cx="1207008" cy="1152144"/>
          </a:xfrm>
          <a:prstGeom prst="roundRect">
            <a:avLst>
              <a:gd name="adj" fmla="val 7937"/>
            </a:avLst>
          </a:prstGeom>
          <a:solidFill>
            <a:srgbClr val="6B21C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212080" y="1097280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1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212080" y="1371600"/>
            <a:ext cx="1207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8B4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Review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212080" y="1600200"/>
            <a:ext cx="120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necessity</a:t>
            </a:r>
            <a:endParaRPr lang="en-US" sz="9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chain-of-thought</a:t>
            </a:r>
            <a:endParaRPr lang="en-US" sz="9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ICD/CPT analysis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419088" y="1627632"/>
            <a:ext cx="118872" cy="0"/>
          </a:xfrm>
          <a:prstGeom prst="line">
            <a:avLst/>
          </a:prstGeom>
          <a:noFill/>
          <a:ln w="19050">
            <a:solidFill>
              <a:srgbClr val="F9A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537960" y="1051560"/>
            <a:ext cx="1207008" cy="1152144"/>
          </a:xfrm>
          <a:prstGeom prst="roundRect">
            <a:avLst>
              <a:gd name="adj" fmla="val 7937"/>
            </a:avLst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537960" y="1097280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2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537960" y="1371600"/>
            <a:ext cx="1207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8B4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FWA Detection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537960" y="1600200"/>
            <a:ext cx="120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Upcoding, phantom</a:t>
            </a:r>
            <a:endParaRPr lang="en-US" sz="9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billing, unbundling</a:t>
            </a:r>
            <a:endParaRPr lang="en-US" sz="9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CMS LCD/NCD check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744968" y="1627632"/>
            <a:ext cx="118872" cy="0"/>
          </a:xfrm>
          <a:prstGeom prst="line">
            <a:avLst/>
          </a:prstGeom>
          <a:noFill/>
          <a:ln w="19050">
            <a:solidFill>
              <a:srgbClr val="F9A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7863840" y="1051560"/>
            <a:ext cx="1207008" cy="1152144"/>
          </a:xfrm>
          <a:prstGeom prst="roundRect">
            <a:avLst>
              <a:gd name="adj" fmla="val 7937"/>
            </a:avLst>
          </a:prstGeom>
          <a:solidFill>
            <a:srgbClr val="5B21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7863840" y="1097280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3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863840" y="1371600"/>
            <a:ext cx="1207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8B4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Adjudication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863840" y="1600200"/>
            <a:ext cx="120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JSON output</a:t>
            </a:r>
            <a:endParaRPr lang="en-US" sz="9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scoring</a:t>
            </a:r>
            <a:endParaRPr lang="en-US" sz="9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SIU recommendation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212080" y="2395728"/>
            <a:ext cx="3749040" cy="658368"/>
          </a:xfrm>
          <a:prstGeom prst="roundRect">
            <a:avLst>
              <a:gd name="adj" fmla="val 13889"/>
            </a:avLst>
          </a:prstGeom>
          <a:solidFill>
            <a:srgbClr val="FFFFFF">
              <a:alpha val="8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212080" y="248716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CMS Coverage API  |  api.coverage.cms.gov  |  LRU cache + retry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74320" y="3200400"/>
            <a:ext cx="2057400" cy="1719072"/>
          </a:xfrm>
          <a:prstGeom prst="roundRect">
            <a:avLst>
              <a:gd name="adj" fmla="val 5319"/>
            </a:avLst>
          </a:prstGeom>
          <a:solidFill>
            <a:srgbClr val="0D9488">
              <a:alpha val="8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347472" y="3291840"/>
            <a:ext cx="19110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Recommendation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347472" y="3712464"/>
            <a:ext cx="19110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050" dirty="0">
                <a:solidFill>
                  <a:srgbClr val="B2F5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/ FLAG / DENY</a:t>
            </a:r>
            <a:endParaRPr lang="en-US" sz="105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050" dirty="0">
                <a:solidFill>
                  <a:srgbClr val="B2F5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confidence score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2487168" y="3200400"/>
            <a:ext cx="2057400" cy="1719072"/>
          </a:xfrm>
          <a:prstGeom prst="roundRect">
            <a:avLst>
              <a:gd name="adj" fmla="val 5319"/>
            </a:avLst>
          </a:prstGeom>
          <a:solidFill>
            <a:srgbClr val="0D9488">
              <a:alpha val="8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2560320" y="3291840"/>
            <a:ext cx="19110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 Risk Registry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2560320" y="3712464"/>
            <a:ext cx="19110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050" dirty="0">
                <a:solidFill>
                  <a:srgbClr val="B2F5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Cross-claim patterns</a:t>
            </a:r>
            <a:endParaRPr lang="en-US" sz="105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050" dirty="0">
                <a:solidFill>
                  <a:srgbClr val="B2F5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SIU referral triggers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700016" y="3200400"/>
            <a:ext cx="2057400" cy="1719072"/>
          </a:xfrm>
          <a:prstGeom prst="roundRect">
            <a:avLst>
              <a:gd name="adj" fmla="val 5319"/>
            </a:avLst>
          </a:prstGeom>
          <a:solidFill>
            <a:srgbClr val="0D9488">
              <a:alpha val="8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773168" y="3291840"/>
            <a:ext cx="19110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Audit Report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4773168" y="3712464"/>
            <a:ext cx="19110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050" dirty="0">
                <a:solidFill>
                  <a:srgbClr val="B2F5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reasoning chain</a:t>
            </a:r>
            <a:endParaRPr lang="en-US" sz="105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050" dirty="0">
                <a:solidFill>
                  <a:srgbClr val="B2F5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CMS citations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912864" y="3200400"/>
            <a:ext cx="2057400" cy="1719072"/>
          </a:xfrm>
          <a:prstGeom prst="roundRect">
            <a:avLst>
              <a:gd name="adj" fmla="val 5319"/>
            </a:avLst>
          </a:prstGeom>
          <a:solidFill>
            <a:srgbClr val="0D9488">
              <a:alpha val="8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6986016" y="3291840"/>
            <a:ext cx="19110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Harness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6986016" y="3712464"/>
            <a:ext cx="19110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050" dirty="0">
                <a:solidFill>
                  <a:srgbClr val="B2F5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Confusion matrix vs</a:t>
            </a:r>
            <a:endParaRPr lang="en-US" sz="105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050" dirty="0">
                <a:solidFill>
                  <a:srgbClr val="B2F5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ground-truth labels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5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A05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Three-Agent Pipeline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74980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agent specializes. Each passes structured context forward.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47472" y="1298448"/>
            <a:ext cx="530352" cy="530352"/>
          </a:xfrm>
          <a:prstGeom prst="ellipse">
            <a:avLst/>
          </a:prstGeom>
          <a:solidFill>
            <a:srgbClr val="6B21C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47472" y="12984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87552" y="12801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0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Review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87552" y="1645920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Parses ICD-10 and CPT codes. Queries live CMS Coverage API for NCD/LCD guidelines. Assesses medical necessity using chain-of-thought reasoning.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760720" y="1298448"/>
            <a:ext cx="3017520" cy="841248"/>
          </a:xfrm>
          <a:prstGeom prst="roundRect">
            <a:avLst>
              <a:gd name="adj" fmla="val 10870"/>
            </a:avLst>
          </a:prstGeom>
          <a:solidFill>
            <a:srgbClr val="F7F5FF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870448" y="1325880"/>
            <a:ext cx="2798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B21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870448" y="1572768"/>
            <a:ext cx="2798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0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severity, justified procedures, CMS policy references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2648" y="1847088"/>
            <a:ext cx="0" cy="621792"/>
          </a:xfrm>
          <a:prstGeom prst="line">
            <a:avLst/>
          </a:prstGeom>
          <a:noFill/>
          <a:ln w="25400">
            <a:solidFill>
              <a:srgbClr val="6B21C8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47472" y="2560320"/>
            <a:ext cx="530352" cy="530352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47472" y="256032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87552" y="2542032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0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FWA Detection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87552" y="2907792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Receives Agent 1 context. Compares billed codes against clinically justified procedures. Detects upcoding, unbundling, and phantom billing against CMS LCD/NCD policies.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760720" y="2560320"/>
            <a:ext cx="3017520" cy="841248"/>
          </a:xfrm>
          <a:prstGeom prst="roundRect">
            <a:avLst>
              <a:gd name="adj" fmla="val 10870"/>
            </a:avLst>
          </a:prstGeom>
          <a:solidFill>
            <a:srgbClr val="F7F5FF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870448" y="2587752"/>
            <a:ext cx="2798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870448" y="2834640"/>
            <a:ext cx="2798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0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Flagged CPT codes, anomaly types, financial exposure estimate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12648" y="3108960"/>
            <a:ext cx="0" cy="621792"/>
          </a:xfrm>
          <a:prstGeom prst="line">
            <a:avLst/>
          </a:prstGeom>
          <a:noFill/>
          <a:ln w="25400">
            <a:solidFill>
              <a:srgbClr val="7C3AED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347472" y="3822192"/>
            <a:ext cx="530352" cy="530352"/>
          </a:xfrm>
          <a:prstGeom prst="ellipse">
            <a:avLst/>
          </a:prstGeom>
          <a:solidFill>
            <a:srgbClr val="5B21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47472" y="382219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87552" y="3803904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0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Synthesis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987552" y="4169664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Receives both prior outputs. Synthesizes findings into a Pydantic-validated JSON determination. Calibrates confidence score. Writes plain-English SIU recommendation.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760720" y="3822192"/>
            <a:ext cx="3017520" cy="841248"/>
          </a:xfrm>
          <a:prstGeom prst="roundRect">
            <a:avLst>
              <a:gd name="adj" fmla="val 10870"/>
            </a:avLst>
          </a:prstGeom>
          <a:solidFill>
            <a:srgbClr val="F7F5FF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870448" y="3849624"/>
            <a:ext cx="2798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5B2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870448" y="4096512"/>
            <a:ext cx="2798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0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/ FLAG / DENY with confidence %, estimated recoverable amount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5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A05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Policy-to-Rule Engine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74980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Converting plain-English CMS policy into executable deterministic checks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47472" y="1207008"/>
            <a:ext cx="1993392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47472" y="1207008"/>
            <a:ext cx="1993392" cy="420624"/>
          </a:xfrm>
          <a:prstGeom prst="roundRect">
            <a:avLst>
              <a:gd name="adj" fmla="val 26087"/>
            </a:avLst>
          </a:prstGeom>
          <a:solidFill>
            <a:srgbClr val="6B72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20624" y="1243584"/>
            <a:ext cx="18470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CMS Policy Text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20624" y="1700784"/>
            <a:ext cx="184708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"MRI lumbar spine</a:t>
            </a:r>
            <a:endParaRPr lang="en-US" sz="11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covered only after</a:t>
            </a:r>
            <a:endParaRPr lang="en-US" sz="11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4-6 weeks conservative</a:t>
            </a:r>
            <a:endParaRPr lang="en-US" sz="11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treatment"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340864" y="2121408"/>
            <a:ext cx="219456" cy="0"/>
          </a:xfrm>
          <a:prstGeom prst="line">
            <a:avLst/>
          </a:prstGeom>
          <a:noFill/>
          <a:ln w="31750">
            <a:solidFill>
              <a:srgbClr val="E91E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2560320" y="1207008"/>
            <a:ext cx="1993392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560320" y="1207008"/>
            <a:ext cx="1993392" cy="420624"/>
          </a:xfrm>
          <a:prstGeom prst="roundRect">
            <a:avLst>
              <a:gd name="adj" fmla="val 26087"/>
            </a:avLst>
          </a:prstGeom>
          <a:solidFill>
            <a:srgbClr val="6B21C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633472" y="1243584"/>
            <a:ext cx="18470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Converter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633472" y="1700784"/>
            <a:ext cx="184708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GPT-4o-mini</a:t>
            </a:r>
            <a:endParaRPr lang="en-US" sz="11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mode</a:t>
            </a:r>
            <a:endParaRPr lang="en-US" sz="11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53712" y="2121408"/>
            <a:ext cx="219456" cy="0"/>
          </a:xfrm>
          <a:prstGeom prst="line">
            <a:avLst/>
          </a:prstGeom>
          <a:noFill/>
          <a:ln w="31750">
            <a:solidFill>
              <a:srgbClr val="E91E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773168" y="1207008"/>
            <a:ext cx="1993392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773168" y="1207008"/>
            <a:ext cx="1993392" cy="420624"/>
          </a:xfrm>
          <a:prstGeom prst="roundRect">
            <a:avLst>
              <a:gd name="adj" fmla="val 26087"/>
            </a:avLst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846320" y="1243584"/>
            <a:ext cx="18470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Executable Rule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46320" y="1700784"/>
            <a:ext cx="184708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cpt_codes: [72148]</a:t>
            </a:r>
            <a:endParaRPr lang="en-US" sz="11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min_weeks: 4</a:t>
            </a:r>
            <a:endParaRPr lang="en-US" sz="11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action: FLAG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766560" y="2121408"/>
            <a:ext cx="219456" cy="0"/>
          </a:xfrm>
          <a:prstGeom prst="line">
            <a:avLst/>
          </a:prstGeom>
          <a:noFill/>
          <a:ln w="31750">
            <a:solidFill>
              <a:srgbClr val="E91E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986016" y="1207008"/>
            <a:ext cx="1993392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986016" y="1207008"/>
            <a:ext cx="1993392" cy="420624"/>
          </a:xfrm>
          <a:prstGeom prst="roundRect">
            <a:avLst>
              <a:gd name="adj" fmla="val 26087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059168" y="1243584"/>
            <a:ext cx="18470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Pre-Screen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059168" y="1700784"/>
            <a:ext cx="184708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BEFORE LLM</a:t>
            </a:r>
            <a:endParaRPr lang="en-US" sz="11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— instant</a:t>
            </a:r>
            <a:endParaRPr lang="en-US" sz="11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fully auditable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327355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0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Rules Currently in the Library: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47472" y="3657600"/>
            <a:ext cx="4160520" cy="384048"/>
          </a:xfrm>
          <a:prstGeom prst="roundRect">
            <a:avLst>
              <a:gd name="adj" fmla="val 14286"/>
            </a:avLst>
          </a:prstGeom>
          <a:solidFill>
            <a:srgbClr val="E9D5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75488" y="3694176"/>
            <a:ext cx="3904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0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MRI Lumbar (CPT 72148)  |  CMS LCD L34220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681728" y="3657600"/>
            <a:ext cx="4160520" cy="384048"/>
          </a:xfrm>
          <a:prstGeom prst="roundRect">
            <a:avLst>
              <a:gd name="adj" fmla="val 14286"/>
            </a:avLst>
          </a:prstGeom>
          <a:solidFill>
            <a:srgbClr val="E9D5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809744" y="3694176"/>
            <a:ext cx="3904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0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MRI Brain (CPT 70553)  |  CMS NCD 220.2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47472" y="4114800"/>
            <a:ext cx="4160520" cy="384048"/>
          </a:xfrm>
          <a:prstGeom prst="roundRect">
            <a:avLst>
              <a:gd name="adj" fmla="val 14286"/>
            </a:avLst>
          </a:prstGeom>
          <a:solidFill>
            <a:srgbClr val="E9D5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75488" y="4151376"/>
            <a:ext cx="3904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0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Knee Arthroplasty (CPT 27447)  |  CMS LCD L38548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681728" y="4114800"/>
            <a:ext cx="4160520" cy="384048"/>
          </a:xfrm>
          <a:prstGeom prst="roundRect">
            <a:avLst>
              <a:gd name="adj" fmla="val 14286"/>
            </a:avLst>
          </a:prstGeom>
          <a:solidFill>
            <a:srgbClr val="E9D5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809744" y="4151376"/>
            <a:ext cx="3904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0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E/M High Complexity (CPT 99215)  |  CMS E/M 2023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47472" y="4572000"/>
            <a:ext cx="4160520" cy="384048"/>
          </a:xfrm>
          <a:prstGeom prst="roundRect">
            <a:avLst>
              <a:gd name="adj" fmla="val 14286"/>
            </a:avLst>
          </a:prstGeom>
          <a:solidFill>
            <a:srgbClr val="E9D5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75488" y="4608576"/>
            <a:ext cx="3904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0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Echocardiography (CPT 93306)  |  CMS NCD 20.7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681728" y="4572000"/>
            <a:ext cx="4160520" cy="384048"/>
          </a:xfrm>
          <a:prstGeom prst="roundRect">
            <a:avLst>
              <a:gd name="adj" fmla="val 14286"/>
            </a:avLst>
          </a:prstGeom>
          <a:solidFill>
            <a:srgbClr val="E9D5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809744" y="4608576"/>
            <a:ext cx="3904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0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Therapy (CPT 97001)  |  CMS LCD L33865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05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in Action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8B4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synthetic ground-truth cases — functional smoke test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274320" y="1170432"/>
            <a:ext cx="2743200" cy="3749040"/>
          </a:xfrm>
          <a:prstGeom prst="roundRect">
            <a:avLst>
              <a:gd name="adj" fmla="val 4667"/>
            </a:avLst>
          </a:prstGeom>
          <a:solidFill>
            <a:srgbClr val="FFFFFF">
              <a:alpha val="9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1170432"/>
            <a:ext cx="2743200" cy="502920"/>
          </a:xfrm>
          <a:prstGeom prst="roundRect">
            <a:avLst>
              <a:gd name="adj" fmla="val 25455"/>
            </a:avLst>
          </a:prstGeom>
          <a:solidFill>
            <a:srgbClr val="E9D5FF">
              <a:alpha val="7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121615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B21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CLM-2025-001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65760" y="139903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UPCODING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384048" y="1755648"/>
            <a:ext cx="7498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B21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Provider: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143000" y="1755648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Sunrise Medical Group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384048" y="2258568"/>
            <a:ext cx="7498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B21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Complaint: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143000" y="2258568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Mild lower back pain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84048" y="2761488"/>
            <a:ext cx="7498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B21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Codes: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143000" y="2761488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M54.5 + CPT 27447 (knee arthroplasty)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84048" y="3264408"/>
            <a:ext cx="7498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B21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Fired: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143000" y="3264408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KNEE_ARTHROPLASTY_001 — CPT 27447 incompatible with M54.5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84048" y="3785616"/>
            <a:ext cx="2514600" cy="932688"/>
          </a:xfrm>
          <a:prstGeom prst="roundRect">
            <a:avLst>
              <a:gd name="adj" fmla="val 9804"/>
            </a:avLst>
          </a:prstGeom>
          <a:solidFill>
            <a:srgbClr val="E91E8C">
              <a:alpha val="8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84048" y="3822192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 WITH CAUSE (correct)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84048" y="4133088"/>
            <a:ext cx="2514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Confidence: 95%  |  Recovery: $18,500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46120" y="1170432"/>
            <a:ext cx="2743200" cy="3749040"/>
          </a:xfrm>
          <a:prstGeom prst="roundRect">
            <a:avLst>
              <a:gd name="adj" fmla="val 4667"/>
            </a:avLst>
          </a:prstGeom>
          <a:solidFill>
            <a:srgbClr val="FFFFFF">
              <a:alpha val="9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3246120" y="1170432"/>
            <a:ext cx="2743200" cy="502920"/>
          </a:xfrm>
          <a:prstGeom prst="roundRect">
            <a:avLst>
              <a:gd name="adj" fmla="val 25455"/>
            </a:avLst>
          </a:prstGeom>
          <a:solidFill>
            <a:srgbClr val="E9D5FF">
              <a:alpha val="7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337560" y="121615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B21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CLM-2025-002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337560" y="139903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NOT RENDERED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3355848" y="1755648"/>
            <a:ext cx="7498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B21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Provider: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114800" y="1755648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Wellness Center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355848" y="2258568"/>
            <a:ext cx="7498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B21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Complaint: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114800" y="2258568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Routine annual wellness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3355848" y="2761488"/>
            <a:ext cx="7498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B21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Codes: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114800" y="2761488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Z00.00 + CPT 70553 (brain MRI), 93306 (echo)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3355848" y="3264408"/>
            <a:ext cx="7498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B21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Fired: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114800" y="3264408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MRI_BRAIN_001 + ECHOCARDIOGRAPHY_001 triggered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3355848" y="3785616"/>
            <a:ext cx="2514600" cy="932688"/>
          </a:xfrm>
          <a:prstGeom prst="roundRect">
            <a:avLst>
              <a:gd name="adj" fmla="val 9804"/>
            </a:avLst>
          </a:prstGeom>
          <a:solidFill>
            <a:srgbClr val="E91E8C">
              <a:alpha val="8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3355848" y="3822192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 WITH CAUSE (correct)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3355848" y="4133088"/>
            <a:ext cx="2514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Confidence: 95%  |  Recovery: $12,400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217920" y="1170432"/>
            <a:ext cx="2743200" cy="3749040"/>
          </a:xfrm>
          <a:prstGeom prst="roundRect">
            <a:avLst>
              <a:gd name="adj" fmla="val 4667"/>
            </a:avLst>
          </a:prstGeom>
          <a:solidFill>
            <a:srgbClr val="FFFFFF">
              <a:alpha val="9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6217920" y="1170432"/>
            <a:ext cx="2743200" cy="502920"/>
          </a:xfrm>
          <a:prstGeom prst="roundRect">
            <a:avLst>
              <a:gd name="adj" fmla="val 25455"/>
            </a:avLst>
          </a:prstGeom>
          <a:solidFill>
            <a:srgbClr val="E9D5FF">
              <a:alpha val="7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6309360" y="121615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B21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CLM-2025-003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309360" y="139903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327648" y="1755648"/>
            <a:ext cx="7498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B21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Provider: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7086600" y="1755648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Downtown Cardiology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6327648" y="2258568"/>
            <a:ext cx="7498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B21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Complaint: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7086600" y="2258568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Chest pain, shortness of breath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6327648" y="2761488"/>
            <a:ext cx="7498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B21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Codes: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7086600" y="2761488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I20.9 + CPT 99223, 93000, 93306, 85025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6327648" y="3264408"/>
            <a:ext cx="7498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B21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Fired: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7086600" y="3264408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violations — codes match clinical presentation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6327648" y="3785616"/>
            <a:ext cx="2514600" cy="932688"/>
          </a:xfrm>
          <a:prstGeom prst="roundRect">
            <a:avLst>
              <a:gd name="adj" fmla="val 9804"/>
            </a:avLst>
          </a:prstGeom>
          <a:solidFill>
            <a:srgbClr val="00A651">
              <a:alpha val="8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6327648" y="3822192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(correct)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6327648" y="4133088"/>
            <a:ext cx="2514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Confidence: 95%  |  Recovery: $0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274320" y="4828032"/>
            <a:ext cx="8595360" cy="201168"/>
          </a:xfrm>
          <a:prstGeom prst="roundRect">
            <a:avLst>
              <a:gd name="adj" fmla="val 27273"/>
            </a:avLst>
          </a:prstGeom>
          <a:solidFill>
            <a:srgbClr val="00A651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274320" y="4837176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3/3 correct  |  0 false positives  |  0 false negatives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5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A05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Opportunities and Threats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347472" y="868680"/>
            <a:ext cx="4069080" cy="4069080"/>
          </a:xfrm>
          <a:prstGeom prst="roundRect">
            <a:avLst>
              <a:gd name="adj" fmla="val 3146"/>
            </a:avLst>
          </a:prstGeom>
          <a:solidFill>
            <a:srgbClr val="F0FDF4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96012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A6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Opportunities</a:t>
            </a:r>
            <a:endParaRPr lang="en-US" sz="16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1426464"/>
            <a:ext cx="256032" cy="2560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138988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0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Investigator time yield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822960" y="1664208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claims with documented rationale — SIU analysts focus on edge cases</a:t>
            </a:r>
            <a:endParaRPr lang="en-US" sz="11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2249424"/>
            <a:ext cx="256032" cy="25603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22960" y="221284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0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Policy-to-rule automation</a:t>
            </a:r>
            <a:endParaRPr lang="en-US" sz="1250" dirty="0"/>
          </a:p>
        </p:txBody>
      </p:sp>
      <p:sp>
        <p:nvSpPr>
          <p:cNvPr id="10" name="Text 6"/>
          <p:cNvSpPr/>
          <p:nvPr/>
        </p:nvSpPr>
        <p:spPr>
          <a:xfrm>
            <a:off x="822960" y="2487168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new CMS NCD/LCD prose to live edits in seconds, not weeks</a:t>
            </a:r>
            <a:endParaRPr lang="en-US" sz="110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3072384"/>
            <a:ext cx="256032" cy="25603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22960" y="303580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0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Appeal defensibility</a:t>
            </a:r>
            <a:endParaRPr lang="en-US" sz="1250" dirty="0"/>
          </a:p>
        </p:txBody>
      </p:sp>
      <p:sp>
        <p:nvSpPr>
          <p:cNvPr id="13" name="Text 8"/>
          <p:cNvSpPr/>
          <p:nvPr/>
        </p:nvSpPr>
        <p:spPr>
          <a:xfrm>
            <a:off x="822960" y="3310128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determination cites an exact CMS document ID, strengthening audit trails</a:t>
            </a:r>
            <a:endParaRPr lang="en-US" sz="1100" dirty="0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3895344"/>
            <a:ext cx="256032" cy="256032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822960" y="385876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0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generalizes</a:t>
            </a:r>
            <a:endParaRPr lang="en-US" sz="1250" dirty="0"/>
          </a:p>
        </p:txBody>
      </p:sp>
      <p:sp>
        <p:nvSpPr>
          <p:cNvPr id="16" name="Text 10"/>
          <p:cNvSpPr/>
          <p:nvPr/>
        </p:nvSpPr>
        <p:spPr>
          <a:xfrm>
            <a:off x="822960" y="4133088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pipeline covers prepay review, provider risk profiling, and TPO operations</a:t>
            </a:r>
            <a:endParaRPr lang="en-US" sz="1100" dirty="0"/>
          </a:p>
        </p:txBody>
      </p:sp>
      <p:sp>
        <p:nvSpPr>
          <p:cNvPr id="17" name="Shape 11"/>
          <p:cNvSpPr/>
          <p:nvPr/>
        </p:nvSpPr>
        <p:spPr>
          <a:xfrm>
            <a:off x="4727448" y="868680"/>
            <a:ext cx="4069080" cy="4069080"/>
          </a:xfrm>
          <a:prstGeom prst="roundRect">
            <a:avLst>
              <a:gd name="adj" fmla="val 3146"/>
            </a:avLst>
          </a:prstGeom>
          <a:solidFill>
            <a:srgbClr val="FFF1F2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12"/>
          <p:cNvSpPr/>
          <p:nvPr/>
        </p:nvSpPr>
        <p:spPr>
          <a:xfrm>
            <a:off x="4882896" y="96012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Threats</a:t>
            </a:r>
            <a:endParaRPr lang="en-US" sz="1600" dirty="0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5464" y="1426464"/>
            <a:ext cx="256032" cy="256032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5212080" y="138988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0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Hallucination risk</a:t>
            </a:r>
            <a:endParaRPr lang="en-US" sz="1250" dirty="0"/>
          </a:p>
        </p:txBody>
      </p:sp>
      <p:sp>
        <p:nvSpPr>
          <p:cNvPr id="21" name="Text 14"/>
          <p:cNvSpPr/>
          <p:nvPr/>
        </p:nvSpPr>
        <p:spPr>
          <a:xfrm>
            <a:off x="5212080" y="1664208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outputs must be recommendations for human review, never autonomous denials</a:t>
            </a:r>
            <a:endParaRPr lang="en-US" sz="1100" dirty="0"/>
          </a:p>
        </p:txBody>
      </p:sp>
      <p:pic>
        <p:nvPicPr>
          <p:cNvPr id="22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5464" y="2249424"/>
            <a:ext cx="256032" cy="256032"/>
          </a:xfrm>
          <a:prstGeom prst="rect">
            <a:avLst/>
          </a:prstGeom>
        </p:spPr>
      </p:pic>
      <p:sp>
        <p:nvSpPr>
          <p:cNvPr id="23" name="Text 15"/>
          <p:cNvSpPr/>
          <p:nvPr/>
        </p:nvSpPr>
        <p:spPr>
          <a:xfrm>
            <a:off x="5212080" y="221284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0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AI-generated fraud</a:t>
            </a:r>
            <a:endParaRPr lang="en-US" sz="1250" dirty="0"/>
          </a:p>
        </p:txBody>
      </p:sp>
      <p:sp>
        <p:nvSpPr>
          <p:cNvPr id="24" name="Text 16"/>
          <p:cNvSpPr/>
          <p:nvPr/>
        </p:nvSpPr>
        <p:spPr>
          <a:xfrm>
            <a:off x="5212080" y="2487168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clinical documents and deepfake billing are an emerging attack vector</a:t>
            </a:r>
            <a:endParaRPr lang="en-US" sz="1100" dirty="0"/>
          </a:p>
        </p:txBody>
      </p:sp>
      <p:pic>
        <p:nvPicPr>
          <p:cNvPr id="25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5464" y="3072384"/>
            <a:ext cx="256032" cy="256032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5212080" y="303580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0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and HIPAA exposure</a:t>
            </a:r>
            <a:endParaRPr lang="en-US" sz="1250" dirty="0"/>
          </a:p>
        </p:txBody>
      </p:sp>
      <p:sp>
        <p:nvSpPr>
          <p:cNvPr id="27" name="Text 18"/>
          <p:cNvSpPr/>
          <p:nvPr/>
        </p:nvSpPr>
        <p:spPr>
          <a:xfrm>
            <a:off x="5212080" y="3310128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requires HIPAA-compliant infra and BAAs before any production routing</a:t>
            </a:r>
            <a:endParaRPr lang="en-US" sz="1100" dirty="0"/>
          </a:p>
        </p:txBody>
      </p:sp>
      <p:pic>
        <p:nvPicPr>
          <p:cNvPr id="28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5464" y="3895344"/>
            <a:ext cx="256032" cy="256032"/>
          </a:xfrm>
          <a:prstGeom prst="rect">
            <a:avLst/>
          </a:prstGeom>
        </p:spPr>
      </p:pic>
      <p:sp>
        <p:nvSpPr>
          <p:cNvPr id="29" name="Text 19"/>
          <p:cNvSpPr/>
          <p:nvPr/>
        </p:nvSpPr>
        <p:spPr>
          <a:xfrm>
            <a:off x="5212080" y="385876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0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drift</a:t>
            </a:r>
            <a:endParaRPr lang="en-US" sz="1250" dirty="0"/>
          </a:p>
        </p:txBody>
      </p:sp>
      <p:sp>
        <p:nvSpPr>
          <p:cNvPr id="30" name="Text 20"/>
          <p:cNvSpPr/>
          <p:nvPr/>
        </p:nvSpPr>
        <p:spPr>
          <a:xfrm>
            <a:off x="5212080" y="4133088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CMS updates NCDs/LCDs continuously — rules must be refreshed to stay current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5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A05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Strategic Options for Cotiviti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74980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PayGuard AI prototypes three capabilities Cotiviti could operationalize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20040" y="1170432"/>
            <a:ext cx="2724912" cy="3767328"/>
          </a:xfrm>
          <a:prstGeom prst="roundRect">
            <a:avLst>
              <a:gd name="adj" fmla="val 4698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2724912" cy="987552"/>
          </a:xfrm>
          <a:prstGeom prst="roundRect">
            <a:avLst>
              <a:gd name="adj" fmla="val 12963"/>
            </a:avLst>
          </a:prstGeom>
          <a:solidFill>
            <a:srgbClr val="6B21C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" y="1243584"/>
            <a:ext cx="347472" cy="3474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1216152"/>
            <a:ext cx="20665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A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29768" y="1536192"/>
            <a:ext cx="2505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Prepayment Layer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29768" y="2249424"/>
            <a:ext cx="2487168" cy="274320"/>
          </a:xfrm>
          <a:prstGeom prst="roundRect">
            <a:avLst>
              <a:gd name="adj" fmla="val 20000"/>
            </a:avLst>
          </a:prstGeom>
          <a:solidFill>
            <a:srgbClr val="E9D5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466344" y="2267712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A0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to Claim Pattern Review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429768" y="2596896"/>
            <a:ext cx="250545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multi-agent LLM reasoning layer to Cotiviti's existing Claim Pattern Review. Each flagged claim gets a plain-English, CMS-cited rationale before it reaches a credentialed analyst.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29768" y="3840480"/>
            <a:ext cx="2505456" cy="914400"/>
          </a:xfrm>
          <a:prstGeom prst="roundRect">
            <a:avLst>
              <a:gd name="adj" fmla="val 8000"/>
            </a:avLst>
          </a:prstGeom>
          <a:solidFill>
            <a:srgbClr val="F7F5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502920" y="3877056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B21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 in PayGuard AI: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502920" y="4096512"/>
            <a:ext cx="23591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A0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Demonstrated end-to-end with live CMS API grounding and PDF audit export per claim.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3246120" y="1170432"/>
            <a:ext cx="2724912" cy="3767328"/>
          </a:xfrm>
          <a:prstGeom prst="roundRect">
            <a:avLst>
              <a:gd name="adj" fmla="val 4698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3246120" y="1170432"/>
            <a:ext cx="2724912" cy="987552"/>
          </a:xfrm>
          <a:prstGeom prst="roundRect">
            <a:avLst>
              <a:gd name="adj" fmla="val 12963"/>
            </a:avLst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5848" y="1243584"/>
            <a:ext cx="347472" cy="347472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3794760" y="1216152"/>
            <a:ext cx="20665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3355848" y="1536192"/>
            <a:ext cx="2505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Policy-to-Rule Conversion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3355848" y="2249424"/>
            <a:ext cx="2487168" cy="274320"/>
          </a:xfrm>
          <a:prstGeom prst="roundRect">
            <a:avLst>
              <a:gd name="adj" fmla="val 20000"/>
            </a:avLst>
          </a:prstGeom>
          <a:solidFill>
            <a:srgbClr val="E9D5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7"/>
          <p:cNvSpPr/>
          <p:nvPr/>
        </p:nvSpPr>
        <p:spPr>
          <a:xfrm>
            <a:off x="3392424" y="2267712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A0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 edit library lag</a:t>
            </a:r>
            <a:endParaRPr lang="en-US" sz="1000" dirty="0"/>
          </a:p>
        </p:txBody>
      </p:sp>
      <p:sp>
        <p:nvSpPr>
          <p:cNvPr id="22" name="Text 18"/>
          <p:cNvSpPr/>
          <p:nvPr/>
        </p:nvSpPr>
        <p:spPr>
          <a:xfrm>
            <a:off x="3355848" y="2596896"/>
            <a:ext cx="250545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tooling to convert new CMS NCD/LCD prose into structured executable edits automatically. New policy becomes a live prepayment rule in minutes, not weeks.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3355848" y="3840480"/>
            <a:ext cx="2505456" cy="914400"/>
          </a:xfrm>
          <a:prstGeom prst="roundRect">
            <a:avLst>
              <a:gd name="adj" fmla="val 8000"/>
            </a:avLst>
          </a:prstGeom>
          <a:solidFill>
            <a:srgbClr val="F7F5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0"/>
          <p:cNvSpPr/>
          <p:nvPr/>
        </p:nvSpPr>
        <p:spPr>
          <a:xfrm>
            <a:off x="3429000" y="3877056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B21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 in PayGuard AI:</a:t>
            </a:r>
            <a:endParaRPr lang="en-US" sz="950" dirty="0"/>
          </a:p>
        </p:txBody>
      </p:sp>
      <p:sp>
        <p:nvSpPr>
          <p:cNvPr id="25" name="Text 21"/>
          <p:cNvSpPr/>
          <p:nvPr/>
        </p:nvSpPr>
        <p:spPr>
          <a:xfrm>
            <a:off x="3429000" y="4096512"/>
            <a:ext cx="23591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A0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Prototyped via LLM-assisted policy-to-JSON converter feeding the deterministic rules engine.</a:t>
            </a:r>
            <a:endParaRPr lang="en-US" sz="950" dirty="0"/>
          </a:p>
        </p:txBody>
      </p:sp>
      <p:sp>
        <p:nvSpPr>
          <p:cNvPr id="26" name="Shape 22"/>
          <p:cNvSpPr/>
          <p:nvPr/>
        </p:nvSpPr>
        <p:spPr>
          <a:xfrm>
            <a:off x="6172200" y="1170432"/>
            <a:ext cx="2724912" cy="3767328"/>
          </a:xfrm>
          <a:prstGeom prst="roundRect">
            <a:avLst>
              <a:gd name="adj" fmla="val 4698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3"/>
          <p:cNvSpPr/>
          <p:nvPr/>
        </p:nvSpPr>
        <p:spPr>
          <a:xfrm>
            <a:off x="6172200" y="1170432"/>
            <a:ext cx="2724912" cy="987552"/>
          </a:xfrm>
          <a:prstGeom prst="roundRect">
            <a:avLst>
              <a:gd name="adj" fmla="val 12963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1928" y="1243584"/>
            <a:ext cx="347472" cy="347472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6720840" y="1216152"/>
            <a:ext cx="20665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C</a:t>
            </a:r>
            <a:endParaRPr lang="en-US" sz="1300" dirty="0"/>
          </a:p>
        </p:txBody>
      </p:sp>
      <p:sp>
        <p:nvSpPr>
          <p:cNvPr id="30" name="Text 25"/>
          <p:cNvSpPr/>
          <p:nvPr/>
        </p:nvSpPr>
        <p:spPr>
          <a:xfrm>
            <a:off x="6281928" y="1536192"/>
            <a:ext cx="2505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 AI Governance Program</a:t>
            </a:r>
            <a:endParaRPr lang="en-US" sz="1200" dirty="0"/>
          </a:p>
        </p:txBody>
      </p:sp>
      <p:sp>
        <p:nvSpPr>
          <p:cNvPr id="31" name="Shape 26"/>
          <p:cNvSpPr/>
          <p:nvPr/>
        </p:nvSpPr>
        <p:spPr>
          <a:xfrm>
            <a:off x="6281928" y="2249424"/>
            <a:ext cx="2487168" cy="274320"/>
          </a:xfrm>
          <a:prstGeom prst="roundRect">
            <a:avLst>
              <a:gd name="adj" fmla="val 20000"/>
            </a:avLst>
          </a:prstGeom>
          <a:solidFill>
            <a:srgbClr val="E9D5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27"/>
          <p:cNvSpPr/>
          <p:nvPr/>
        </p:nvSpPr>
        <p:spPr>
          <a:xfrm>
            <a:off x="6318504" y="2267712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A0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Client-facing differentiator</a:t>
            </a:r>
            <a:endParaRPr lang="en-US" sz="1000" dirty="0"/>
          </a:p>
        </p:txBody>
      </p:sp>
      <p:sp>
        <p:nvSpPr>
          <p:cNvPr id="33" name="Text 28"/>
          <p:cNvSpPr/>
          <p:nvPr/>
        </p:nvSpPr>
        <p:spPr>
          <a:xfrm>
            <a:off x="6281928" y="2596896"/>
            <a:ext cx="250545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Formalize and publish a governance framework: human-in-the-loop requirements, PHI safeguards, bias monitoring, drift alerting, and accuracy benchmarking vs. ground truth.</a:t>
            </a:r>
            <a:endParaRPr lang="en-US" sz="1100" dirty="0"/>
          </a:p>
        </p:txBody>
      </p:sp>
      <p:sp>
        <p:nvSpPr>
          <p:cNvPr id="34" name="Shape 29"/>
          <p:cNvSpPr/>
          <p:nvPr/>
        </p:nvSpPr>
        <p:spPr>
          <a:xfrm>
            <a:off x="6281928" y="3840480"/>
            <a:ext cx="2505456" cy="914400"/>
          </a:xfrm>
          <a:prstGeom prst="roundRect">
            <a:avLst>
              <a:gd name="adj" fmla="val 8000"/>
            </a:avLst>
          </a:prstGeom>
          <a:solidFill>
            <a:srgbClr val="F7F5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0"/>
          <p:cNvSpPr/>
          <p:nvPr/>
        </p:nvSpPr>
        <p:spPr>
          <a:xfrm>
            <a:off x="6355080" y="3877056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B21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 in PayGuard AI:</a:t>
            </a:r>
            <a:endParaRPr lang="en-US" sz="950" dirty="0"/>
          </a:p>
        </p:txBody>
      </p:sp>
      <p:sp>
        <p:nvSpPr>
          <p:cNvPr id="36" name="Text 31"/>
          <p:cNvSpPr/>
          <p:nvPr/>
        </p:nvSpPr>
        <p:spPr>
          <a:xfrm>
            <a:off x="6355080" y="4096512"/>
            <a:ext cx="23591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A0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GOVERNANCE.md and evaluation harness scoring against labeled cases are included as a starting template.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5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A05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Governance and Technical Foundation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0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Governance Controls</a:t>
            </a:r>
            <a:endParaRPr lang="en-US" sz="17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07592"/>
            <a:ext cx="237744" cy="2377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86384" y="1280160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 review required before any claim action</a:t>
            </a:r>
            <a:endParaRPr lang="en-US" sz="115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01368"/>
            <a:ext cx="237744" cy="23774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86384" y="1773936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outputs labeled as AI recommendations, never autonomous denials</a:t>
            </a:r>
            <a:endParaRPr lang="en-US" sz="115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95144"/>
            <a:ext cx="237744" cy="237744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786384" y="2267712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data only — no real PHI used at any stage</a:t>
            </a:r>
            <a:endParaRPr lang="en-US" sz="115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788920"/>
            <a:ext cx="237744" cy="237744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786384" y="2761488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GOVERNANCE.md documents all controls and production requirements</a:t>
            </a:r>
            <a:endParaRPr lang="en-US" sz="1150" dirty="0"/>
          </a:p>
        </p:txBody>
      </p:sp>
      <p:pic>
        <p:nvPicPr>
          <p:cNvPr id="12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282696"/>
            <a:ext cx="237744" cy="237744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786384" y="3255264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harness scores system against labeled ground-truth claims</a:t>
            </a:r>
            <a:endParaRPr lang="en-US" sz="1150" dirty="0"/>
          </a:p>
        </p:txBody>
      </p:sp>
      <p:pic>
        <p:nvPicPr>
          <p:cNvPr id="14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776472"/>
            <a:ext cx="237744" cy="237744"/>
          </a:xfrm>
          <a:prstGeom prst="rect">
            <a:avLst/>
          </a:prstGeom>
        </p:spPr>
      </p:pic>
      <p:sp>
        <p:nvSpPr>
          <p:cNvPr id="15" name="Text 7"/>
          <p:cNvSpPr/>
          <p:nvPr/>
        </p:nvSpPr>
        <p:spPr>
          <a:xfrm>
            <a:off x="786384" y="3749040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calibration guide prevents overconfident outputs</a:t>
            </a:r>
            <a:endParaRPr lang="en-US" sz="1150" dirty="0"/>
          </a:p>
        </p:txBody>
      </p:sp>
      <p:pic>
        <p:nvPicPr>
          <p:cNvPr id="16" name="Image 6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270248"/>
            <a:ext cx="237744" cy="237744"/>
          </a:xfrm>
          <a:prstGeom prst="rect">
            <a:avLst/>
          </a:prstGeom>
        </p:spPr>
      </p:pic>
      <p:sp>
        <p:nvSpPr>
          <p:cNvPr id="17" name="Text 8"/>
          <p:cNvSpPr/>
          <p:nvPr/>
        </p:nvSpPr>
        <p:spPr>
          <a:xfrm>
            <a:off x="786384" y="4242816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monitoring across provider specialties flagged as future requirement</a:t>
            </a:r>
            <a:endParaRPr lang="en-US" sz="1150" dirty="0"/>
          </a:p>
        </p:txBody>
      </p:sp>
      <p:sp>
        <p:nvSpPr>
          <p:cNvPr id="18" name="Text 9"/>
          <p:cNvSpPr/>
          <p:nvPr/>
        </p:nvSpPr>
        <p:spPr>
          <a:xfrm>
            <a:off x="5029200" y="86868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0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Stack</a:t>
            </a:r>
            <a:endParaRPr lang="en-US" sz="1700" dirty="0"/>
          </a:p>
        </p:txBody>
      </p:sp>
      <p:sp>
        <p:nvSpPr>
          <p:cNvPr id="19" name="Shape 10"/>
          <p:cNvSpPr/>
          <p:nvPr/>
        </p:nvSpPr>
        <p:spPr>
          <a:xfrm>
            <a:off x="5029200" y="1298448"/>
            <a:ext cx="3749040" cy="402336"/>
          </a:xfrm>
          <a:prstGeom prst="roundRect">
            <a:avLst>
              <a:gd name="adj" fmla="val 15909"/>
            </a:avLst>
          </a:prstGeom>
          <a:solidFill>
            <a:srgbClr val="F7F5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1"/>
          <p:cNvSpPr/>
          <p:nvPr/>
        </p:nvSpPr>
        <p:spPr>
          <a:xfrm>
            <a:off x="5138928" y="135331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21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100" dirty="0"/>
          </a:p>
        </p:txBody>
      </p:sp>
      <p:sp>
        <p:nvSpPr>
          <p:cNvPr id="21" name="Text 12"/>
          <p:cNvSpPr/>
          <p:nvPr/>
        </p:nvSpPr>
        <p:spPr>
          <a:xfrm>
            <a:off x="6400800" y="1353312"/>
            <a:ext cx="226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GPT-4o-mini (JSON mode)</a:t>
            </a:r>
            <a:endParaRPr lang="en-US" sz="1100" dirty="0"/>
          </a:p>
        </p:txBody>
      </p:sp>
      <p:sp>
        <p:nvSpPr>
          <p:cNvPr id="22" name="Shape 13"/>
          <p:cNvSpPr/>
          <p:nvPr/>
        </p:nvSpPr>
        <p:spPr>
          <a:xfrm>
            <a:off x="5029200" y="1773936"/>
            <a:ext cx="3749040" cy="402336"/>
          </a:xfrm>
          <a:prstGeom prst="roundRect">
            <a:avLst>
              <a:gd name="adj" fmla="val 15909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14"/>
          <p:cNvSpPr/>
          <p:nvPr/>
        </p:nvSpPr>
        <p:spPr>
          <a:xfrm>
            <a:off x="5138928" y="18288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21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</a:t>
            </a:r>
            <a:endParaRPr lang="en-US" sz="1100" dirty="0"/>
          </a:p>
        </p:txBody>
      </p:sp>
      <p:sp>
        <p:nvSpPr>
          <p:cNvPr id="24" name="Text 15"/>
          <p:cNvSpPr/>
          <p:nvPr/>
        </p:nvSpPr>
        <p:spPr>
          <a:xfrm>
            <a:off x="6400800" y="1828800"/>
            <a:ext cx="226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3-agent custom pipeline</a:t>
            </a:r>
            <a:endParaRPr lang="en-US" sz="1100" dirty="0"/>
          </a:p>
        </p:txBody>
      </p:sp>
      <p:sp>
        <p:nvSpPr>
          <p:cNvPr id="25" name="Shape 16"/>
          <p:cNvSpPr/>
          <p:nvPr/>
        </p:nvSpPr>
        <p:spPr>
          <a:xfrm>
            <a:off x="5029200" y="2249424"/>
            <a:ext cx="3749040" cy="402336"/>
          </a:xfrm>
          <a:prstGeom prst="roundRect">
            <a:avLst>
              <a:gd name="adj" fmla="val 15909"/>
            </a:avLst>
          </a:prstGeom>
          <a:solidFill>
            <a:srgbClr val="F7F5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17"/>
          <p:cNvSpPr/>
          <p:nvPr/>
        </p:nvSpPr>
        <p:spPr>
          <a:xfrm>
            <a:off x="5138928" y="230428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21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100" dirty="0"/>
          </a:p>
        </p:txBody>
      </p:sp>
      <p:sp>
        <p:nvSpPr>
          <p:cNvPr id="27" name="Text 18"/>
          <p:cNvSpPr/>
          <p:nvPr/>
        </p:nvSpPr>
        <p:spPr>
          <a:xfrm>
            <a:off x="6400800" y="2304288"/>
            <a:ext cx="226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v2 schema</a:t>
            </a:r>
            <a:endParaRPr lang="en-US" sz="1100" dirty="0"/>
          </a:p>
        </p:txBody>
      </p:sp>
      <p:sp>
        <p:nvSpPr>
          <p:cNvPr id="28" name="Shape 19"/>
          <p:cNvSpPr/>
          <p:nvPr/>
        </p:nvSpPr>
        <p:spPr>
          <a:xfrm>
            <a:off x="5029200" y="2724912"/>
            <a:ext cx="3749040" cy="402336"/>
          </a:xfrm>
          <a:prstGeom prst="roundRect">
            <a:avLst>
              <a:gd name="adj" fmla="val 15909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0"/>
          <p:cNvSpPr/>
          <p:nvPr/>
        </p:nvSpPr>
        <p:spPr>
          <a:xfrm>
            <a:off x="5138928" y="277977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21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API</a:t>
            </a:r>
            <a:endParaRPr lang="en-US" sz="1100" dirty="0"/>
          </a:p>
        </p:txBody>
      </p:sp>
      <p:sp>
        <p:nvSpPr>
          <p:cNvPr id="30" name="Text 21"/>
          <p:cNvSpPr/>
          <p:nvPr/>
        </p:nvSpPr>
        <p:spPr>
          <a:xfrm>
            <a:off x="6400800" y="2779776"/>
            <a:ext cx="226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CMS Coverage API</a:t>
            </a:r>
            <a:endParaRPr lang="en-US" sz="1100" dirty="0"/>
          </a:p>
        </p:txBody>
      </p:sp>
      <p:sp>
        <p:nvSpPr>
          <p:cNvPr id="31" name="Shape 22"/>
          <p:cNvSpPr/>
          <p:nvPr/>
        </p:nvSpPr>
        <p:spPr>
          <a:xfrm>
            <a:off x="5029200" y="3200400"/>
            <a:ext cx="3749040" cy="402336"/>
          </a:xfrm>
          <a:prstGeom prst="roundRect">
            <a:avLst>
              <a:gd name="adj" fmla="val 15909"/>
            </a:avLst>
          </a:prstGeom>
          <a:solidFill>
            <a:srgbClr val="F7F5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23"/>
          <p:cNvSpPr/>
          <p:nvPr/>
        </p:nvSpPr>
        <p:spPr>
          <a:xfrm>
            <a:off x="5138928" y="325526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21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1100" dirty="0"/>
          </a:p>
        </p:txBody>
      </p:sp>
      <p:sp>
        <p:nvSpPr>
          <p:cNvPr id="33" name="Text 24"/>
          <p:cNvSpPr/>
          <p:nvPr/>
        </p:nvSpPr>
        <p:spPr>
          <a:xfrm>
            <a:off x="6400800" y="3255264"/>
            <a:ext cx="226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Confusion matrix harness</a:t>
            </a:r>
            <a:endParaRPr lang="en-US" sz="1100" dirty="0"/>
          </a:p>
        </p:txBody>
      </p:sp>
      <p:sp>
        <p:nvSpPr>
          <p:cNvPr id="34" name="Shape 25"/>
          <p:cNvSpPr/>
          <p:nvPr/>
        </p:nvSpPr>
        <p:spPr>
          <a:xfrm>
            <a:off x="5029200" y="3675888"/>
            <a:ext cx="3749040" cy="402336"/>
          </a:xfrm>
          <a:prstGeom prst="roundRect">
            <a:avLst>
              <a:gd name="adj" fmla="val 15909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26"/>
          <p:cNvSpPr/>
          <p:nvPr/>
        </p:nvSpPr>
        <p:spPr>
          <a:xfrm>
            <a:off x="5138928" y="373075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21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</a:t>
            </a:r>
            <a:endParaRPr lang="en-US" sz="1100" dirty="0"/>
          </a:p>
        </p:txBody>
      </p:sp>
      <p:sp>
        <p:nvSpPr>
          <p:cNvPr id="36" name="Text 27"/>
          <p:cNvSpPr/>
          <p:nvPr/>
        </p:nvSpPr>
        <p:spPr>
          <a:xfrm>
            <a:off x="6400800" y="3730752"/>
            <a:ext cx="226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</a:t>
            </a:r>
            <a:endParaRPr lang="en-US" sz="1100" dirty="0"/>
          </a:p>
        </p:txBody>
      </p:sp>
      <p:sp>
        <p:nvSpPr>
          <p:cNvPr id="37" name="Shape 28"/>
          <p:cNvSpPr/>
          <p:nvPr/>
        </p:nvSpPr>
        <p:spPr>
          <a:xfrm>
            <a:off x="5029200" y="4151376"/>
            <a:ext cx="3749040" cy="402336"/>
          </a:xfrm>
          <a:prstGeom prst="roundRect">
            <a:avLst>
              <a:gd name="adj" fmla="val 15909"/>
            </a:avLst>
          </a:prstGeom>
          <a:solidFill>
            <a:srgbClr val="F7F5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Text 29"/>
          <p:cNvSpPr/>
          <p:nvPr/>
        </p:nvSpPr>
        <p:spPr>
          <a:xfrm>
            <a:off x="5138928" y="42062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21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</a:t>
            </a:r>
            <a:endParaRPr lang="en-US" sz="1100" dirty="0"/>
          </a:p>
        </p:txBody>
      </p:sp>
      <p:sp>
        <p:nvSpPr>
          <p:cNvPr id="39" name="Text 30"/>
          <p:cNvSpPr/>
          <p:nvPr/>
        </p:nvSpPr>
        <p:spPr>
          <a:xfrm>
            <a:off x="6400800" y="4206240"/>
            <a:ext cx="226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ReportLab PDF per claim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5029200" y="4626864"/>
            <a:ext cx="3749040" cy="402336"/>
          </a:xfrm>
          <a:prstGeom prst="roundRect">
            <a:avLst>
              <a:gd name="adj" fmla="val 15909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2"/>
          <p:cNvSpPr/>
          <p:nvPr/>
        </p:nvSpPr>
        <p:spPr>
          <a:xfrm>
            <a:off x="5138928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21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</a:t>
            </a:r>
            <a:endParaRPr lang="en-US" sz="1100" dirty="0"/>
          </a:p>
        </p:txBody>
      </p:sp>
      <p:sp>
        <p:nvSpPr>
          <p:cNvPr id="42" name="Text 33"/>
          <p:cNvSpPr/>
          <p:nvPr/>
        </p:nvSpPr>
        <p:spPr>
          <a:xfrm>
            <a:off x="6400800" y="4681728"/>
            <a:ext cx="226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GOVERNANCE.md + eval.py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05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9280" cy="5143500"/>
          </a:xfrm>
          <a:prstGeom prst="rect">
            <a:avLst/>
          </a:prstGeom>
          <a:solidFill>
            <a:srgbClr val="4A0080"/>
          </a:solidFill>
          <a:ln/>
        </p:spPr>
        <p:txBody>
          <a:bodyPr/>
          <a:lstStyle/>
          <a:p>
            <a:endParaRPr lang="en-US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365760"/>
            <a:ext cx="868680" cy="8686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11480" y="1325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PayGuard AI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411480" y="2176272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D8B4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case for explainable agentic FWA detection is clear.</a:t>
            </a:r>
            <a:endParaRPr lang="en-US" sz="15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D8B4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architecture is proven.</a:t>
            </a:r>
            <a:endParaRPr lang="en-US" sz="15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D8B4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governance controls are in place.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411480" y="333756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 synthetic data only. No real PHI used.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411480" y="3648456"/>
            <a:ext cx="49377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chemeClr val="bg1"/>
                </a:solidFill>
              </a:rPr>
              <a:t>Live App: </a:t>
            </a:r>
            <a:r>
              <a:rPr lang="en-US" sz="1200" b="1" dirty="0">
                <a:solidFill>
                  <a:schemeClr val="bg1"/>
                </a:solidFill>
                <a:hlinkClick r:id="rId4"/>
              </a:rPr>
              <a:t>https://payguard-ai-jv5rvuxekszih7ewdxrlcr.streamlit.app</a:t>
            </a:r>
            <a:endParaRPr lang="en-US" sz="1200" b="1" dirty="0">
              <a:solidFill>
                <a:schemeClr val="bg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endParaRPr lang="en-US" sz="1200" dirty="0">
              <a:solidFill>
                <a:srgbClr val="A78BF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Neha Save  |  MS Analytics, Northeastern University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11480" y="446227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035040" y="658368"/>
            <a:ext cx="2834640" cy="713232"/>
          </a:xfrm>
          <a:prstGeom prst="roundRect">
            <a:avLst>
              <a:gd name="adj" fmla="val 12821"/>
            </a:avLst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44768" y="813816"/>
            <a:ext cx="365760" cy="3657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601968" y="822960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$16.6B problem — HHS OIG 2025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035040" y="1545336"/>
            <a:ext cx="2834640" cy="713232"/>
          </a:xfrm>
          <a:prstGeom prst="roundRect">
            <a:avLst>
              <a:gd name="adj" fmla="val 12821"/>
            </a:avLst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44768" y="1700784"/>
            <a:ext cx="365760" cy="36576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601968" y="1709928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3-agent LLM + deterministic hybrid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6035040" y="2432304"/>
            <a:ext cx="2834640" cy="713232"/>
          </a:xfrm>
          <a:prstGeom prst="roundRect">
            <a:avLst>
              <a:gd name="adj" fmla="val 12821"/>
            </a:avLst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44768" y="2587752"/>
            <a:ext cx="365760" cy="36576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6601968" y="2596896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Policy-to-rule engine for CMS NCD/LCD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6035040" y="3319272"/>
            <a:ext cx="2834640" cy="713232"/>
          </a:xfrm>
          <a:prstGeom prst="roundRect">
            <a:avLst>
              <a:gd name="adj" fmla="val 12821"/>
            </a:avLst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44768" y="3474720"/>
            <a:ext cx="365760" cy="36576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6601968" y="3483864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 governance built in</a:t>
            </a:r>
            <a:endParaRPr lang="en-US" sz="1200" dirty="0"/>
          </a:p>
        </p:txBody>
      </p:sp>
      <p:sp>
        <p:nvSpPr>
          <p:cNvPr id="21" name="Shape 14"/>
          <p:cNvSpPr/>
          <p:nvPr/>
        </p:nvSpPr>
        <p:spPr>
          <a:xfrm>
            <a:off x="6035040" y="4206240"/>
            <a:ext cx="2834640" cy="713232"/>
          </a:xfrm>
          <a:prstGeom prst="roundRect">
            <a:avLst>
              <a:gd name="adj" fmla="val 12821"/>
            </a:avLst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2" name="Image 5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44768" y="4361688"/>
            <a:ext cx="365760" cy="365760"/>
          </a:xfrm>
          <a:prstGeom prst="rect">
            <a:avLst/>
          </a:prstGeom>
        </p:spPr>
      </p:pic>
      <p:sp>
        <p:nvSpPr>
          <p:cNvPr id="23" name="Text 15"/>
          <p:cNvSpPr/>
          <p:nvPr/>
        </p:nvSpPr>
        <p:spPr>
          <a:xfrm>
            <a:off x="6601968" y="4370832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smoke test, 0 false positives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1495</Words>
  <Application>Microsoft Office PowerPoint</Application>
  <PresentationFormat>On-screen Show (16:9)</PresentationFormat>
  <Paragraphs>246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PayGuard AI</dc:title>
  <dc:subject>PptxGenJS Presentation</dc:subject>
  <dc:creator>Neha Save</dc:creator>
  <cp:lastModifiedBy>neha save</cp:lastModifiedBy>
  <cp:revision>4</cp:revision>
  <dcterms:created xsi:type="dcterms:W3CDTF">2026-06-30T03:05:41Z</dcterms:created>
  <dcterms:modified xsi:type="dcterms:W3CDTF">2026-07-01T01:07:43Z</dcterms:modified>
</cp:coreProperties>
</file>